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4"/>
  </p:notesMasterIdLst>
  <p:sldIdLst>
    <p:sldId id="256" r:id="rId2"/>
    <p:sldId id="298" r:id="rId3"/>
    <p:sldId id="297" r:id="rId4"/>
    <p:sldId id="299" r:id="rId5"/>
    <p:sldId id="296" r:id="rId6"/>
    <p:sldId id="289" r:id="rId7"/>
    <p:sldId id="290" r:id="rId8"/>
    <p:sldId id="291" r:id="rId9"/>
    <p:sldId id="292" r:id="rId10"/>
    <p:sldId id="293" r:id="rId11"/>
    <p:sldId id="294" r:id="rId12"/>
    <p:sldId id="295" r:id="rId13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5"/>
      <p:bold r:id="rId16"/>
      <p:italic r:id="rId17"/>
      <p:boldItalic r:id="rId18"/>
    </p:embeddedFont>
    <p:embeddedFont>
      <p:font typeface="Fira Sans Extra Condensed Medium" panose="020B0604020202020204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ab22213a62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6" name="Google Shape;56;gab22213a62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1B8BDA70-FD2D-16C7-62AD-2C2C930E2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AC60485D-B19A-28DB-F19E-927A8F5DE6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5DA49FFE-0413-B454-401A-EA90E7A14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7769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0114F536-980A-17A2-4A91-0D3DAF96F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4E754C58-A492-2105-9E97-A40C98FBA4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E57CC016-BD17-3F18-D9A5-B2A496A99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338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39D25F6F-A607-7505-9F89-D9A0152A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D79C44B5-E457-2EC9-8DE8-2A6B9DEDBD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ECE4BB03-C8DA-5F51-BB9B-D165CFCB88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6441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2EF7C5B1-202A-EB30-D4C4-9153F1EDB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8529A355-3560-61D2-CEC1-23D9DBF05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465C5174-39B0-A0C2-1A05-5F819A368E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2722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E3D57BA4-A420-2179-39D9-9791D872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6379CB7E-F954-98C3-9719-CBEC6FB4B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F453A9B6-625A-C479-EBC6-199391E19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2524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5DCBE46B-CD2C-3FA5-EE3C-860C5F68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F9D3B078-E106-9B05-7DD2-6633F4AAA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9081CEC6-94ED-1ABC-BDE6-6AE02AB711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944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1253CE2B-5261-BFA5-D98D-8C72C8715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95BD656B-736A-5674-2E93-E2F7B2A21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167A527A-5DB0-E806-F738-F25903BEB7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1729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1EB40C51-5829-37BE-0E12-421891163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D9C26144-5647-ABD1-2E1C-503A9F9D11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0ABBD24C-B9A4-49F1-D00B-6B51BE97DD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51026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9F9F8117-B651-25D1-7738-29498F159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344EEF28-DFEF-4E90-CC61-12F5F1B2D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86BC1DF1-5067-C454-62FD-5B4EE348B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1513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3A6DA185-020B-FFF3-0AD9-18E5A073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A6A19F80-0D8C-A68F-D8EF-5D15BA74DE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9F28CC1A-C234-DF46-8F8F-111422DBE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4831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>
          <a:extLst>
            <a:ext uri="{FF2B5EF4-FFF2-40B4-BE49-F238E27FC236}">
              <a16:creationId xmlns:a16="http://schemas.microsoft.com/office/drawing/2014/main" id="{07845DC5-66BD-CEA7-0613-1FF20F131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ab22213a62_0_269:notes">
            <a:extLst>
              <a:ext uri="{FF2B5EF4-FFF2-40B4-BE49-F238E27FC236}">
                <a16:creationId xmlns:a16="http://schemas.microsoft.com/office/drawing/2014/main" id="{7A3DEEB7-D840-78A8-39A2-5EE8B547D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430" name="Google Shape;430;gab22213a62_0_269:notes">
            <a:extLst>
              <a:ext uri="{FF2B5EF4-FFF2-40B4-BE49-F238E27FC236}">
                <a16:creationId xmlns:a16="http://schemas.microsoft.com/office/drawing/2014/main" id="{C501FEA8-6B6E-3D38-514A-CE4055A7F0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2478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57200" y="414000"/>
            <a:ext cx="8229600" cy="143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" y="1702950"/>
            <a:ext cx="8229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57200" y="1121450"/>
            <a:ext cx="8229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40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21450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5"/>
          <p:cNvGrpSpPr/>
          <p:nvPr/>
        </p:nvGrpSpPr>
        <p:grpSpPr>
          <a:xfrm>
            <a:off x="6530225" y="1128431"/>
            <a:ext cx="2613775" cy="3632550"/>
            <a:chOff x="6073025" y="1092275"/>
            <a:chExt cx="2613775" cy="3632550"/>
          </a:xfrm>
        </p:grpSpPr>
        <p:sp>
          <p:nvSpPr>
            <p:cNvPr id="59" name="Google Shape;59;p15"/>
            <p:cNvSpPr/>
            <p:nvPr/>
          </p:nvSpPr>
          <p:spPr>
            <a:xfrm>
              <a:off x="6628825" y="1092275"/>
              <a:ext cx="777600" cy="777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6073025" y="2043925"/>
              <a:ext cx="777600" cy="777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6109475" y="2995575"/>
              <a:ext cx="777600" cy="777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6628825" y="3947225"/>
              <a:ext cx="777600" cy="777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 flipH="1">
              <a:off x="7228145" y="2923709"/>
              <a:ext cx="703265" cy="932947"/>
            </a:xfrm>
            <a:custGeom>
              <a:avLst/>
              <a:gdLst/>
              <a:ahLst/>
              <a:cxnLst/>
              <a:rect l="l" t="t" r="r" b="b"/>
              <a:pathLst>
                <a:path w="5787" h="7677" extrusionOk="0">
                  <a:moveTo>
                    <a:pt x="2210" y="1"/>
                  </a:moveTo>
                  <a:lnTo>
                    <a:pt x="2197" y="403"/>
                  </a:lnTo>
                  <a:lnTo>
                    <a:pt x="2103" y="1166"/>
                  </a:lnTo>
                  <a:lnTo>
                    <a:pt x="1942" y="1916"/>
                  </a:lnTo>
                  <a:lnTo>
                    <a:pt x="1715" y="2626"/>
                  </a:lnTo>
                  <a:lnTo>
                    <a:pt x="1433" y="3323"/>
                  </a:lnTo>
                  <a:lnTo>
                    <a:pt x="1099" y="3979"/>
                  </a:lnTo>
                  <a:lnTo>
                    <a:pt x="697" y="4609"/>
                  </a:lnTo>
                  <a:lnTo>
                    <a:pt x="255" y="5185"/>
                  </a:lnTo>
                  <a:lnTo>
                    <a:pt x="0" y="5466"/>
                  </a:lnTo>
                  <a:lnTo>
                    <a:pt x="2813" y="7676"/>
                  </a:lnTo>
                  <a:lnTo>
                    <a:pt x="3148" y="7288"/>
                  </a:lnTo>
                  <a:lnTo>
                    <a:pt x="3751" y="6457"/>
                  </a:lnTo>
                  <a:lnTo>
                    <a:pt x="4287" y="5573"/>
                  </a:lnTo>
                  <a:lnTo>
                    <a:pt x="4755" y="4649"/>
                  </a:lnTo>
                  <a:lnTo>
                    <a:pt x="5144" y="3684"/>
                  </a:lnTo>
                  <a:lnTo>
                    <a:pt x="5439" y="2666"/>
                  </a:lnTo>
                  <a:lnTo>
                    <a:pt x="5653" y="1635"/>
                  </a:lnTo>
                  <a:lnTo>
                    <a:pt x="5760" y="550"/>
                  </a:lnTo>
                  <a:lnTo>
                    <a:pt x="57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 flipH="1">
              <a:off x="7228145" y="1935599"/>
              <a:ext cx="704967" cy="934527"/>
            </a:xfrm>
            <a:custGeom>
              <a:avLst/>
              <a:gdLst/>
              <a:ahLst/>
              <a:cxnLst/>
              <a:rect l="l" t="t" r="r" b="b"/>
              <a:pathLst>
                <a:path w="5801" h="7690" extrusionOk="0">
                  <a:moveTo>
                    <a:pt x="2814" y="1"/>
                  </a:moveTo>
                  <a:lnTo>
                    <a:pt x="1" y="2211"/>
                  </a:lnTo>
                  <a:lnTo>
                    <a:pt x="242" y="2492"/>
                  </a:lnTo>
                  <a:lnTo>
                    <a:pt x="697" y="3082"/>
                  </a:lnTo>
                  <a:lnTo>
                    <a:pt x="1099" y="3698"/>
                  </a:lnTo>
                  <a:lnTo>
                    <a:pt x="1447" y="4368"/>
                  </a:lnTo>
                  <a:lnTo>
                    <a:pt x="1729" y="5051"/>
                  </a:lnTo>
                  <a:lnTo>
                    <a:pt x="1956" y="5774"/>
                  </a:lnTo>
                  <a:lnTo>
                    <a:pt x="2117" y="6524"/>
                  </a:lnTo>
                  <a:lnTo>
                    <a:pt x="2211" y="7301"/>
                  </a:lnTo>
                  <a:lnTo>
                    <a:pt x="2224" y="7690"/>
                  </a:lnTo>
                  <a:lnTo>
                    <a:pt x="5801" y="7690"/>
                  </a:lnTo>
                  <a:lnTo>
                    <a:pt x="5774" y="7140"/>
                  </a:lnTo>
                  <a:lnTo>
                    <a:pt x="5654" y="6069"/>
                  </a:lnTo>
                  <a:lnTo>
                    <a:pt x="5453" y="5024"/>
                  </a:lnTo>
                  <a:lnTo>
                    <a:pt x="5145" y="4006"/>
                  </a:lnTo>
                  <a:lnTo>
                    <a:pt x="4769" y="3028"/>
                  </a:lnTo>
                  <a:lnTo>
                    <a:pt x="4301" y="2104"/>
                  </a:lnTo>
                  <a:lnTo>
                    <a:pt x="3751" y="1220"/>
                  </a:lnTo>
                  <a:lnTo>
                    <a:pt x="3149" y="389"/>
                  </a:lnTo>
                  <a:lnTo>
                    <a:pt x="28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flipH="1">
              <a:off x="7628560" y="1439175"/>
              <a:ext cx="1058240" cy="726112"/>
            </a:xfrm>
            <a:custGeom>
              <a:avLst/>
              <a:gdLst/>
              <a:ahLst/>
              <a:cxnLst/>
              <a:rect l="l" t="t" r="r" b="b"/>
              <a:pathLst>
                <a:path w="8708" h="5975" extrusionOk="0">
                  <a:moveTo>
                    <a:pt x="1" y="0"/>
                  </a:moveTo>
                  <a:lnTo>
                    <a:pt x="1" y="3577"/>
                  </a:lnTo>
                  <a:lnTo>
                    <a:pt x="429" y="3577"/>
                  </a:lnTo>
                  <a:lnTo>
                    <a:pt x="1273" y="3670"/>
                  </a:lnTo>
                  <a:lnTo>
                    <a:pt x="2077" y="3831"/>
                  </a:lnTo>
                  <a:lnTo>
                    <a:pt x="2854" y="4072"/>
                  </a:lnTo>
                  <a:lnTo>
                    <a:pt x="3604" y="4380"/>
                  </a:lnTo>
                  <a:lnTo>
                    <a:pt x="4314" y="4756"/>
                  </a:lnTo>
                  <a:lnTo>
                    <a:pt x="4984" y="5198"/>
                  </a:lnTo>
                  <a:lnTo>
                    <a:pt x="5600" y="5707"/>
                  </a:lnTo>
                  <a:lnTo>
                    <a:pt x="5895" y="5974"/>
                  </a:lnTo>
                  <a:lnTo>
                    <a:pt x="8708" y="3751"/>
                  </a:lnTo>
                  <a:lnTo>
                    <a:pt x="8292" y="3336"/>
                  </a:lnTo>
                  <a:lnTo>
                    <a:pt x="7395" y="2545"/>
                  </a:lnTo>
                  <a:lnTo>
                    <a:pt x="6417" y="1862"/>
                  </a:lnTo>
                  <a:lnTo>
                    <a:pt x="5372" y="1273"/>
                  </a:lnTo>
                  <a:lnTo>
                    <a:pt x="4260" y="777"/>
                  </a:lnTo>
                  <a:lnTo>
                    <a:pt x="3108" y="402"/>
                  </a:lnTo>
                  <a:lnTo>
                    <a:pt x="1889" y="148"/>
                  </a:lnTo>
                  <a:lnTo>
                    <a:pt x="644" y="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 flipH="1">
              <a:off x="7626859" y="3626966"/>
              <a:ext cx="1059941" cy="727813"/>
            </a:xfrm>
            <a:custGeom>
              <a:avLst/>
              <a:gdLst/>
              <a:ahLst/>
              <a:cxnLst/>
              <a:rect l="l" t="t" r="r" b="b"/>
              <a:pathLst>
                <a:path w="8722" h="5989" extrusionOk="0">
                  <a:moveTo>
                    <a:pt x="5908" y="1"/>
                  </a:moveTo>
                  <a:lnTo>
                    <a:pt x="5613" y="282"/>
                  </a:lnTo>
                  <a:lnTo>
                    <a:pt x="4997" y="777"/>
                  </a:lnTo>
                  <a:lnTo>
                    <a:pt x="4327" y="1233"/>
                  </a:lnTo>
                  <a:lnTo>
                    <a:pt x="3617" y="1608"/>
                  </a:lnTo>
                  <a:lnTo>
                    <a:pt x="2867" y="1916"/>
                  </a:lnTo>
                  <a:lnTo>
                    <a:pt x="2090" y="2171"/>
                  </a:lnTo>
                  <a:lnTo>
                    <a:pt x="1273" y="2331"/>
                  </a:lnTo>
                  <a:lnTo>
                    <a:pt x="429" y="2412"/>
                  </a:lnTo>
                  <a:lnTo>
                    <a:pt x="1" y="2425"/>
                  </a:lnTo>
                  <a:lnTo>
                    <a:pt x="1" y="5988"/>
                  </a:lnTo>
                  <a:lnTo>
                    <a:pt x="644" y="5988"/>
                  </a:lnTo>
                  <a:lnTo>
                    <a:pt x="1903" y="5854"/>
                  </a:lnTo>
                  <a:lnTo>
                    <a:pt x="3108" y="5586"/>
                  </a:lnTo>
                  <a:lnTo>
                    <a:pt x="4274" y="5211"/>
                  </a:lnTo>
                  <a:lnTo>
                    <a:pt x="5386" y="4729"/>
                  </a:lnTo>
                  <a:lnTo>
                    <a:pt x="6430" y="4126"/>
                  </a:lnTo>
                  <a:lnTo>
                    <a:pt x="7408" y="3430"/>
                  </a:lnTo>
                  <a:lnTo>
                    <a:pt x="8306" y="2653"/>
                  </a:lnTo>
                  <a:lnTo>
                    <a:pt x="8721" y="2224"/>
                  </a:lnTo>
                  <a:lnTo>
                    <a:pt x="590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461733" y="404049"/>
            <a:ext cx="8329953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800" dirty="0"/>
              <a:t>Order &amp; Restaurant Analysis Using Power BI</a:t>
            </a:r>
            <a:endParaRPr sz="26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88" name="Google Shape;88;p15"/>
          <p:cNvGrpSpPr/>
          <p:nvPr/>
        </p:nvGrpSpPr>
        <p:grpSpPr>
          <a:xfrm>
            <a:off x="6760089" y="2303296"/>
            <a:ext cx="317888" cy="323520"/>
            <a:chOff x="-65144125" y="4094450"/>
            <a:chExt cx="311900" cy="317425"/>
          </a:xfrm>
        </p:grpSpPr>
        <p:sp>
          <p:nvSpPr>
            <p:cNvPr id="89" name="Google Shape;89;p15"/>
            <p:cNvSpPr/>
            <p:nvPr/>
          </p:nvSpPr>
          <p:spPr>
            <a:xfrm>
              <a:off x="-65079550" y="4183450"/>
              <a:ext cx="185900" cy="185900"/>
            </a:xfrm>
            <a:custGeom>
              <a:avLst/>
              <a:gdLst/>
              <a:ahLst/>
              <a:cxnLst/>
              <a:rect l="l" t="t" r="r" b="b"/>
              <a:pathLst>
                <a:path w="7436" h="7436" extrusionOk="0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-65039375" y="4094450"/>
              <a:ext cx="104775" cy="19700"/>
            </a:xfrm>
            <a:custGeom>
              <a:avLst/>
              <a:gdLst/>
              <a:ahLst/>
              <a:cxnLst/>
              <a:rect l="l" t="t" r="r" b="b"/>
              <a:pathLst>
                <a:path w="4191" h="788" extrusionOk="0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-65144125" y="4121025"/>
              <a:ext cx="311900" cy="290850"/>
            </a:xfrm>
            <a:custGeom>
              <a:avLst/>
              <a:gdLst/>
              <a:ahLst/>
              <a:cxnLst/>
              <a:rect l="l" t="t" r="r" b="b"/>
              <a:pathLst>
                <a:path w="12476" h="11634" extrusionOk="0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6792236" y="3253616"/>
            <a:ext cx="326501" cy="324208"/>
            <a:chOff x="-63250675" y="3744075"/>
            <a:chExt cx="320350" cy="318100"/>
          </a:xfrm>
        </p:grpSpPr>
        <p:sp>
          <p:nvSpPr>
            <p:cNvPr id="93" name="Google Shape;93;p15"/>
            <p:cNvSpPr/>
            <p:nvPr/>
          </p:nvSpPr>
          <p:spPr>
            <a:xfrm>
              <a:off x="-63126250" y="3744075"/>
              <a:ext cx="195925" cy="192875"/>
            </a:xfrm>
            <a:custGeom>
              <a:avLst/>
              <a:gdLst/>
              <a:ahLst/>
              <a:cxnLst/>
              <a:rect l="l" t="t" r="r" b="b"/>
              <a:pathLst>
                <a:path w="7837" h="7715" extrusionOk="0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-63190025" y="381405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-63250675" y="3751050"/>
              <a:ext cx="311125" cy="311125"/>
            </a:xfrm>
            <a:custGeom>
              <a:avLst/>
              <a:gdLst/>
              <a:ahLst/>
              <a:cxnLst/>
              <a:rect l="l" t="t" r="r" b="b"/>
              <a:pathLst>
                <a:path w="12445" h="12445" extrusionOk="0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" name="Google Shape;96;p15"/>
          <p:cNvGrpSpPr/>
          <p:nvPr/>
        </p:nvGrpSpPr>
        <p:grpSpPr>
          <a:xfrm>
            <a:off x="7319887" y="1352238"/>
            <a:ext cx="309888" cy="287414"/>
            <a:chOff x="-62511900" y="4129100"/>
            <a:chExt cx="304050" cy="282000"/>
          </a:xfrm>
        </p:grpSpPr>
        <p:sp>
          <p:nvSpPr>
            <p:cNvPr id="97" name="Google Shape;97;p15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15"/>
          <p:cNvGrpSpPr/>
          <p:nvPr/>
        </p:nvGrpSpPr>
        <p:grpSpPr>
          <a:xfrm>
            <a:off x="7316294" y="4189480"/>
            <a:ext cx="317099" cy="322832"/>
            <a:chOff x="-62148800" y="3377700"/>
            <a:chExt cx="311125" cy="316750"/>
          </a:xfrm>
        </p:grpSpPr>
        <p:sp>
          <p:nvSpPr>
            <p:cNvPr id="103" name="Google Shape;103;p15"/>
            <p:cNvSpPr/>
            <p:nvPr/>
          </p:nvSpPr>
          <p:spPr>
            <a:xfrm>
              <a:off x="-62085775" y="3653375"/>
              <a:ext cx="185875" cy="41075"/>
            </a:xfrm>
            <a:custGeom>
              <a:avLst/>
              <a:gdLst/>
              <a:ahLst/>
              <a:cxnLst/>
              <a:rect l="l" t="t" r="r" b="b"/>
              <a:pathLst>
                <a:path w="7435" h="1643" extrusionOk="0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-62148800" y="3377700"/>
              <a:ext cx="311125" cy="254425"/>
            </a:xfrm>
            <a:custGeom>
              <a:avLst/>
              <a:gdLst/>
              <a:ahLst/>
              <a:cxnLst/>
              <a:rect l="l" t="t" r="r" b="b"/>
              <a:pathLst>
                <a:path w="12445" h="10177" extrusionOk="0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" name="Google Shape;105;p15"/>
          <p:cNvGrpSpPr/>
          <p:nvPr/>
        </p:nvGrpSpPr>
        <p:grpSpPr>
          <a:xfrm>
            <a:off x="8599363" y="2641576"/>
            <a:ext cx="544637" cy="541684"/>
            <a:chOff x="-5971525" y="3273750"/>
            <a:chExt cx="292250" cy="290650"/>
          </a:xfrm>
        </p:grpSpPr>
        <p:sp>
          <p:nvSpPr>
            <p:cNvPr id="106" name="Google Shape;106;p15"/>
            <p:cNvSpPr/>
            <p:nvPr/>
          </p:nvSpPr>
          <p:spPr>
            <a:xfrm>
              <a:off x="-5868325" y="3273750"/>
              <a:ext cx="85075" cy="84300"/>
            </a:xfrm>
            <a:custGeom>
              <a:avLst/>
              <a:gdLst/>
              <a:ahLst/>
              <a:cxnLst/>
              <a:rect l="l" t="t" r="r" b="b"/>
              <a:pathLst>
                <a:path w="3403" h="3372" extrusionOk="0">
                  <a:moveTo>
                    <a:pt x="1701" y="0"/>
                  </a:moveTo>
                  <a:cubicBezTo>
                    <a:pt x="788" y="0"/>
                    <a:pt x="0" y="756"/>
                    <a:pt x="0" y="1702"/>
                  </a:cubicBezTo>
                  <a:cubicBezTo>
                    <a:pt x="0" y="2615"/>
                    <a:pt x="788" y="3371"/>
                    <a:pt x="1701" y="3371"/>
                  </a:cubicBezTo>
                  <a:cubicBezTo>
                    <a:pt x="2646" y="3371"/>
                    <a:pt x="3403" y="2615"/>
                    <a:pt x="3403" y="1702"/>
                  </a:cubicBezTo>
                  <a:cubicBezTo>
                    <a:pt x="3403" y="756"/>
                    <a:pt x="2646" y="0"/>
                    <a:pt x="17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-5971525" y="3308400"/>
              <a:ext cx="292250" cy="256000"/>
            </a:xfrm>
            <a:custGeom>
              <a:avLst/>
              <a:gdLst/>
              <a:ahLst/>
              <a:cxnLst/>
              <a:rect l="l" t="t" r="r" b="b"/>
              <a:pathLst>
                <a:path w="11690" h="10240" extrusionOk="0">
                  <a:moveTo>
                    <a:pt x="2049" y="1"/>
                  </a:moveTo>
                  <a:cubicBezTo>
                    <a:pt x="1324" y="1"/>
                    <a:pt x="694" y="599"/>
                    <a:pt x="694" y="1355"/>
                  </a:cubicBezTo>
                  <a:cubicBezTo>
                    <a:pt x="694" y="1733"/>
                    <a:pt x="852" y="2080"/>
                    <a:pt x="1072" y="2300"/>
                  </a:cubicBezTo>
                  <a:cubicBezTo>
                    <a:pt x="442" y="2647"/>
                    <a:pt x="1" y="3340"/>
                    <a:pt x="1" y="4096"/>
                  </a:cubicBezTo>
                  <a:lnTo>
                    <a:pt x="1" y="5766"/>
                  </a:lnTo>
                  <a:cubicBezTo>
                    <a:pt x="1" y="6207"/>
                    <a:pt x="284" y="6617"/>
                    <a:pt x="694" y="6774"/>
                  </a:cubicBezTo>
                  <a:lnTo>
                    <a:pt x="694" y="8538"/>
                  </a:lnTo>
                  <a:cubicBezTo>
                    <a:pt x="694" y="9074"/>
                    <a:pt x="1167" y="9546"/>
                    <a:pt x="1702" y="9546"/>
                  </a:cubicBezTo>
                  <a:lnTo>
                    <a:pt x="2364" y="9546"/>
                  </a:lnTo>
                  <a:cubicBezTo>
                    <a:pt x="2931" y="9546"/>
                    <a:pt x="3403" y="9074"/>
                    <a:pt x="3403" y="8538"/>
                  </a:cubicBezTo>
                  <a:lnTo>
                    <a:pt x="3403" y="6774"/>
                  </a:lnTo>
                  <a:cubicBezTo>
                    <a:pt x="3529" y="6711"/>
                    <a:pt x="3624" y="6648"/>
                    <a:pt x="3750" y="6522"/>
                  </a:cubicBezTo>
                  <a:cubicBezTo>
                    <a:pt x="3876" y="6585"/>
                    <a:pt x="3939" y="6680"/>
                    <a:pt x="4097" y="6774"/>
                  </a:cubicBezTo>
                  <a:lnTo>
                    <a:pt x="4097" y="9200"/>
                  </a:lnTo>
                  <a:cubicBezTo>
                    <a:pt x="4097" y="9735"/>
                    <a:pt x="4569" y="10240"/>
                    <a:pt x="5136" y="10240"/>
                  </a:cubicBezTo>
                  <a:lnTo>
                    <a:pt x="6522" y="10240"/>
                  </a:lnTo>
                  <a:cubicBezTo>
                    <a:pt x="7058" y="10240"/>
                    <a:pt x="7562" y="9767"/>
                    <a:pt x="7562" y="9200"/>
                  </a:cubicBezTo>
                  <a:lnTo>
                    <a:pt x="7562" y="6774"/>
                  </a:lnTo>
                  <a:cubicBezTo>
                    <a:pt x="7688" y="6711"/>
                    <a:pt x="7814" y="6648"/>
                    <a:pt x="7940" y="6522"/>
                  </a:cubicBezTo>
                  <a:cubicBezTo>
                    <a:pt x="8035" y="6585"/>
                    <a:pt x="8129" y="6680"/>
                    <a:pt x="8287" y="6774"/>
                  </a:cubicBezTo>
                  <a:lnTo>
                    <a:pt x="8287" y="8538"/>
                  </a:lnTo>
                  <a:cubicBezTo>
                    <a:pt x="8287" y="9074"/>
                    <a:pt x="8759" y="9546"/>
                    <a:pt x="9295" y="9546"/>
                  </a:cubicBezTo>
                  <a:lnTo>
                    <a:pt x="9988" y="9546"/>
                  </a:lnTo>
                  <a:cubicBezTo>
                    <a:pt x="10524" y="9546"/>
                    <a:pt x="10996" y="9074"/>
                    <a:pt x="10996" y="8538"/>
                  </a:cubicBezTo>
                  <a:lnTo>
                    <a:pt x="10996" y="6774"/>
                  </a:lnTo>
                  <a:cubicBezTo>
                    <a:pt x="11406" y="6617"/>
                    <a:pt x="11658" y="6238"/>
                    <a:pt x="11658" y="5766"/>
                  </a:cubicBezTo>
                  <a:lnTo>
                    <a:pt x="11658" y="4096"/>
                  </a:lnTo>
                  <a:cubicBezTo>
                    <a:pt x="11689" y="3340"/>
                    <a:pt x="11280" y="2678"/>
                    <a:pt x="10650" y="2300"/>
                  </a:cubicBezTo>
                  <a:cubicBezTo>
                    <a:pt x="10870" y="2080"/>
                    <a:pt x="11028" y="1733"/>
                    <a:pt x="11028" y="1355"/>
                  </a:cubicBezTo>
                  <a:cubicBezTo>
                    <a:pt x="11028" y="599"/>
                    <a:pt x="10398" y="1"/>
                    <a:pt x="9641" y="1"/>
                  </a:cubicBezTo>
                  <a:cubicBezTo>
                    <a:pt x="8917" y="1"/>
                    <a:pt x="8287" y="599"/>
                    <a:pt x="8287" y="1355"/>
                  </a:cubicBezTo>
                  <a:cubicBezTo>
                    <a:pt x="8287" y="1733"/>
                    <a:pt x="8444" y="2080"/>
                    <a:pt x="8665" y="2300"/>
                  </a:cubicBezTo>
                  <a:cubicBezTo>
                    <a:pt x="8444" y="2426"/>
                    <a:pt x="8224" y="2584"/>
                    <a:pt x="8066" y="2773"/>
                  </a:cubicBezTo>
                  <a:cubicBezTo>
                    <a:pt x="7972" y="2521"/>
                    <a:pt x="7751" y="2237"/>
                    <a:pt x="7562" y="2017"/>
                  </a:cubicBezTo>
                  <a:cubicBezTo>
                    <a:pt x="7216" y="2395"/>
                    <a:pt x="6743" y="2584"/>
                    <a:pt x="6239" y="2647"/>
                  </a:cubicBezTo>
                  <a:lnTo>
                    <a:pt x="6239" y="4380"/>
                  </a:lnTo>
                  <a:cubicBezTo>
                    <a:pt x="6239" y="4604"/>
                    <a:pt x="6043" y="4722"/>
                    <a:pt x="5851" y="4722"/>
                  </a:cubicBezTo>
                  <a:cubicBezTo>
                    <a:pt x="5665" y="4722"/>
                    <a:pt x="5483" y="4612"/>
                    <a:pt x="5483" y="4380"/>
                  </a:cubicBezTo>
                  <a:lnTo>
                    <a:pt x="5483" y="2647"/>
                  </a:lnTo>
                  <a:cubicBezTo>
                    <a:pt x="4979" y="2584"/>
                    <a:pt x="4506" y="2332"/>
                    <a:pt x="4160" y="2017"/>
                  </a:cubicBezTo>
                  <a:cubicBezTo>
                    <a:pt x="3908" y="2237"/>
                    <a:pt x="3750" y="2521"/>
                    <a:pt x="3624" y="2773"/>
                  </a:cubicBezTo>
                  <a:cubicBezTo>
                    <a:pt x="3466" y="2584"/>
                    <a:pt x="3277" y="2426"/>
                    <a:pt x="3057" y="2300"/>
                  </a:cubicBezTo>
                  <a:cubicBezTo>
                    <a:pt x="3277" y="2080"/>
                    <a:pt x="3435" y="1733"/>
                    <a:pt x="3435" y="1355"/>
                  </a:cubicBezTo>
                  <a:cubicBezTo>
                    <a:pt x="3435" y="599"/>
                    <a:pt x="2805" y="1"/>
                    <a:pt x="20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1D35410-1B52-2557-70EE-462F5FE5C714}"/>
              </a:ext>
            </a:extLst>
          </p:cNvPr>
          <p:cNvSpPr txBox="1"/>
          <p:nvPr/>
        </p:nvSpPr>
        <p:spPr>
          <a:xfrm>
            <a:off x="461733" y="1639652"/>
            <a:ext cx="5690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Objective</a:t>
            </a:r>
            <a:r>
              <a:rPr lang="en-US" dirty="0"/>
              <a:t>: </a:t>
            </a:r>
          </a:p>
          <a:p>
            <a:r>
              <a:rPr lang="en-US" dirty="0"/>
              <a:t>	Developing an interactive Power BI dashboard to evaluate restaurant performance, regional sales, and customer behavior.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CDE6A4-F348-D78E-1F9B-C27B1720456D}"/>
              </a:ext>
            </a:extLst>
          </p:cNvPr>
          <p:cNvSpPr txBox="1"/>
          <p:nvPr/>
        </p:nvSpPr>
        <p:spPr>
          <a:xfrm>
            <a:off x="461733" y="2583475"/>
            <a:ext cx="4863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Tools:</a:t>
            </a:r>
            <a:r>
              <a:rPr lang="en-US" dirty="0"/>
              <a:t> MySQL Power Query, DAX, and Power BI Desktop.</a:t>
            </a:r>
            <a:endParaRPr lang="en-IN" dirty="0"/>
          </a:p>
        </p:txBody>
      </p:sp>
      <p:sp>
        <p:nvSpPr>
          <p:cNvPr id="4" name="Google Shape;92;p15">
            <a:extLst>
              <a:ext uri="{FF2B5EF4-FFF2-40B4-BE49-F238E27FC236}">
                <a16:creationId xmlns:a16="http://schemas.microsoft.com/office/drawing/2014/main" id="{A4AC949B-938F-16E1-9ED7-CECEF74CBC75}"/>
              </a:ext>
            </a:extLst>
          </p:cNvPr>
          <p:cNvSpPr txBox="1">
            <a:spLocks/>
          </p:cNvSpPr>
          <p:nvPr/>
        </p:nvSpPr>
        <p:spPr>
          <a:xfrm>
            <a:off x="461733" y="4491380"/>
            <a:ext cx="2743144" cy="44263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Presented by: N Elangovan</a:t>
            </a:r>
          </a:p>
          <a:p>
            <a:r>
              <a:rPr lang="en-IN" dirty="0"/>
              <a:t>BMAI-C-WD-E-B16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CDF39B09-41C0-D145-CDF6-3AADC479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7CEB2789-8328-7F96-9E37-8492EE43A0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1: Data Preparation &amp; Cleaning (</a:t>
            </a:r>
            <a:r>
              <a:rPr lang="en-IN" sz="2000" dirty="0"/>
              <a:t>MySQL</a:t>
            </a:r>
            <a:r>
              <a:rPr lang="en-US" sz="2000" dirty="0"/>
              <a:t>)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B6DCF060-DAF4-8AD1-ECFA-34B5F0988242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0B8BDFAA-50DA-0200-AEB7-34A36268ED18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8D1E0F1B-E8CD-467D-7AC6-76C13769CBE2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C13793D2-2EB7-06CA-68F3-803D30A8B0AD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B7327A3D-441A-7EC1-D297-DD0095C871E8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F6AE72E5-6B3B-B765-BAFA-AAF8E1EAC572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E069950A-B523-9766-0BEB-CD2121D0EEBA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0DCDFE06-9C98-F533-06DC-C27EBBEDA930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9429DF52-83CB-8540-4436-11ABDE7EE15F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B3734014-2FE4-6BF0-7C20-8D1F81AC5FF2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39F67DC6-6F42-E323-8E3F-1E08B6B7AEB5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7563DE47-2BFD-5DEC-B79B-540B3A1E4B19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8E38F53A-7B70-A81F-02E6-173EDC2428FD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23E447A4-4B77-B9C5-4D58-E9732731B898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F611D86E-DF20-207B-84FC-BC1A2ADF68C3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34DBE5CE-F0A6-773C-BC70-23363835D507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1B4E2EE7-B61D-7D7F-A36D-9BEA5C63187F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7987DB87-94D9-15E1-3DD6-A1F5F73706C9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D93B74A1-D7B7-1942-17B8-CE34898C1CCA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86419BBB-11DA-574A-D6AA-8E42145011D8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73393E1-7DF8-DE6D-3F7C-DF00B4F8C94D}"/>
              </a:ext>
            </a:extLst>
          </p:cNvPr>
          <p:cNvSpPr txBox="1"/>
          <p:nvPr/>
        </p:nvSpPr>
        <p:spPr>
          <a:xfrm>
            <a:off x="349046" y="1017478"/>
            <a:ext cx="4384246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/>
              <a:t>Objective:</a:t>
            </a:r>
            <a:r>
              <a:rPr lang="en-US" sz="1300" dirty="0"/>
              <a:t> To clean and transform the raw Zomato dataset into a usable format.</a:t>
            </a:r>
          </a:p>
          <a:p>
            <a:pPr algn="just"/>
            <a:endParaRPr lang="en-US" sz="13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/>
              <a:t>Steps Taken: </a:t>
            </a:r>
          </a:p>
          <a:p>
            <a:pPr marL="285750" lvl="2" indent="-285750" algn="just">
              <a:buFont typeface="Courier New" panose="02070309020205020404" pitchFamily="49" charset="0"/>
              <a:buChar char="o"/>
            </a:pPr>
            <a:r>
              <a:rPr lang="en-US" sz="1300" dirty="0"/>
              <a:t>Imported the dataset into </a:t>
            </a:r>
            <a:r>
              <a:rPr lang="en-US" sz="1300" b="1" dirty="0"/>
              <a:t>Power BI Desktop</a:t>
            </a:r>
            <a:r>
              <a:rPr lang="en-US" sz="1300" dirty="0"/>
              <a:t>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300" dirty="0"/>
              <a:t>Used </a:t>
            </a:r>
            <a:r>
              <a:rPr lang="en-US" sz="1300" b="1" dirty="0"/>
              <a:t>Power Query Editor</a:t>
            </a:r>
            <a:r>
              <a:rPr lang="en-US" sz="1300" dirty="0"/>
              <a:t> to remove duplicates and handle null values. 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300" dirty="0"/>
              <a:t>Formatted column types (e.g., ensuring order_date is a Date type and Total Sales is a Decimal number).</a:t>
            </a:r>
          </a:p>
          <a:p>
            <a:pPr algn="just"/>
            <a:endParaRPr lang="en-US" sz="13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/>
              <a:t>Insights:</a:t>
            </a:r>
            <a:r>
              <a:rPr lang="en-US" sz="1300" dirty="0"/>
              <a:t> Clean data ensures that the final dashboard visuals are 100% accurate and free from errors.</a:t>
            </a:r>
          </a:p>
          <a:p>
            <a:pPr algn="just"/>
            <a:endParaRPr lang="en-US" sz="13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/>
              <a:t>Recommendations:</a:t>
            </a:r>
            <a:r>
              <a:rPr lang="en-US" sz="1300" dirty="0"/>
              <a:t> Always maintain a 'Backup' of the raw data before starting the cleaning process to prevent accidental data loss.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F67AAC30-A8EF-AFDE-F2DD-0FAC49F13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3947" y="1300068"/>
            <a:ext cx="4082547" cy="234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50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0FD9CEDC-5102-DF89-D15B-FD1494EBD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9370A144-C058-AC4D-FCED-ABB555B254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2: Data Modeling &amp; Relationship Building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0FEC6E00-233B-7DB0-AB7D-EC14955F7067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A9953499-22B4-D92C-B656-9E9ACCBB9B54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80C4BFA3-96EB-1A02-5BC2-AEF6EF0BCD5E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5FAA54BC-3AEB-6455-8A7B-A461E163A171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EF7C5E9A-A822-2787-61B1-D34AEFD9F911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A336B08A-A87E-CC34-1867-C6D70B28FCE6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9488DDC4-9376-FC2B-32F5-B13312316747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F9F88EDB-26E9-EFED-972A-F20F34E4C838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B047F9B1-9FF3-23A2-FAB5-47ECBAA3E9BE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77FF1B7A-F5AE-ABC2-0F0E-833E14899C6F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24425B54-7D7B-809C-272F-02FC7A53B34A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2618C5F2-89EA-9EEB-0656-2D5F33C9F357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EAEC4820-1399-2A73-D9FF-D1CDC8005AFF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56E434AB-29A4-3508-C0A0-2999783515DD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63E6F6E2-B11F-FDAC-EB41-8690FA1506A1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498458CC-8005-2F4B-2816-68320B56A419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FDC2AAA2-AFE9-BB89-F1D3-9B5C65A1D6DE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D6C2AD4B-AE2E-9C3D-886C-CA4F30D7756D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DB9FDFD0-6F7E-5ECD-7825-4C3948A8E50C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9325E2CA-16E6-FC2B-7BB0-2E44C347B561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7F891AE-6B9D-58D0-772E-D3B3F8B43359}"/>
              </a:ext>
            </a:extLst>
          </p:cNvPr>
          <p:cNvSpPr txBox="1"/>
          <p:nvPr/>
        </p:nvSpPr>
        <p:spPr>
          <a:xfrm>
            <a:off x="347660" y="954279"/>
            <a:ext cx="409905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Objective: </a:t>
            </a:r>
            <a:r>
              <a:rPr lang="en-US" sz="1300" dirty="0">
                <a:solidFill>
                  <a:schemeClr val="tx1"/>
                </a:solidFill>
              </a:rPr>
              <a:t>To establish connections between different data tables for better analysis.</a:t>
            </a:r>
          </a:p>
          <a:p>
            <a:pPr algn="just">
              <a:buNone/>
            </a:pPr>
            <a:endParaRPr lang="en-US" sz="1300" b="1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Steps Taken</a:t>
            </a:r>
            <a:r>
              <a:rPr lang="en-US" sz="1300" dirty="0">
                <a:solidFill>
                  <a:schemeClr val="tx1"/>
                </a:solidFill>
              </a:rPr>
              <a:t>: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chemeClr val="tx1"/>
                </a:solidFill>
              </a:rPr>
              <a:t>Defined relationships between the sales data and dimension tables (like City or Restaurants).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chemeClr val="tx1"/>
                </a:solidFill>
              </a:rPr>
              <a:t>Ensured One-to-Many relationships where applicable (e.g., one city can have many orders).</a:t>
            </a:r>
          </a:p>
          <a:p>
            <a:pPr algn="just">
              <a:buNone/>
            </a:pPr>
            <a:endParaRPr lang="en-US" sz="1300" b="1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Insights: </a:t>
            </a:r>
            <a:r>
              <a:rPr lang="en-US" sz="1300" dirty="0">
                <a:solidFill>
                  <a:schemeClr val="tx1"/>
                </a:solidFill>
              </a:rPr>
              <a:t>Strong data modeling allows filters (Slicers) to work across the entire dashboard simultaneously.</a:t>
            </a:r>
          </a:p>
          <a:p>
            <a:pPr algn="just">
              <a:buNone/>
            </a:pPr>
            <a:endParaRPr lang="en-US" sz="1300" b="1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Recommendations: </a:t>
            </a:r>
            <a:r>
              <a:rPr lang="en-US" sz="1300" dirty="0">
                <a:solidFill>
                  <a:schemeClr val="tx1"/>
                </a:solidFill>
              </a:rPr>
              <a:t>Use a Star Schema model to optimize the performance of the dashboard as the dataset grows.</a:t>
            </a:r>
          </a:p>
        </p:txBody>
      </p: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F553C5B0-C42B-1285-43EC-D48DE3616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289" y="983971"/>
            <a:ext cx="2006384" cy="1478388"/>
          </a:xfrm>
          <a:prstGeom prst="rect">
            <a:avLst/>
          </a:prstGeom>
        </p:spPr>
      </p:pic>
      <p:pic>
        <p:nvPicPr>
          <p:cNvPr id="5" name="Picture 4" descr="A blue and white table with numbers">
            <a:extLst>
              <a:ext uri="{FF2B5EF4-FFF2-40B4-BE49-F238E27FC236}">
                <a16:creationId xmlns:a16="http://schemas.microsoft.com/office/drawing/2014/main" id="{82178DD3-1C77-1008-1D9C-4A06ABCBA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839" y="952839"/>
            <a:ext cx="2229161" cy="139084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3BC39B-63E9-8575-352B-576E21AFFA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5804" y="2462359"/>
            <a:ext cx="2838846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1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F434529D-C5F8-6284-F356-7CBB1F55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B0D055E1-C767-83C5-11BF-FF4041B63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3: Creating DAX Measures for KPIs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C5B4F7AE-396B-E64E-A9F6-C23B0E648AD2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FA8904F7-1059-EB46-1D29-52ACC7ACE552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2E5DF0EF-F604-C11B-93CF-1B1D4D6FA5FD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9D50BE13-53CE-2DD2-CC35-B219AD37210F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25D1BC86-5D2F-1939-E3AE-879B7003F7DE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B184864A-FFE7-17BE-DC12-AFD3B1290E76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48E38B6F-CA7B-7942-9CF9-3190E6BB7DBB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09C9A04D-E7FF-DCA7-74B6-A220A52BE3C9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08146E44-3D0A-8CFE-6798-FA90D1ADB382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B18696F7-A391-8F51-05D1-E6CA9D3106C2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78A392EA-11FD-3620-2C3C-C671462736B1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7980A7D0-FB11-EF2D-426B-F92AF3AC057C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41715C69-5A76-F173-2D2F-02436E3B1FD5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16D86D18-9148-0008-227E-BE7BCD37E52F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45F3B75B-FD2A-61CD-FF78-B350ACD8CCDD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16651AEC-63C9-02E0-AB28-D92E33714CAE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12DED8A8-0B5C-C8F3-9922-1ABA98D1C57D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90CEDDE0-B1D6-1A44-BECF-F114636F1FD5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DFB8A84F-A286-ABA0-4BDB-50D3A93505BF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0ADAD9C4-BF26-46AD-6B51-95C4294120C8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24D6203-0C3B-23CD-A175-AEE987ADD201}"/>
              </a:ext>
            </a:extLst>
          </p:cNvPr>
          <p:cNvSpPr txBox="1"/>
          <p:nvPr/>
        </p:nvSpPr>
        <p:spPr>
          <a:xfrm>
            <a:off x="347661" y="954280"/>
            <a:ext cx="4873778" cy="3393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Objective: </a:t>
            </a:r>
            <a:r>
              <a:rPr lang="en-US" sz="1300" dirty="0">
                <a:solidFill>
                  <a:schemeClr val="tx1"/>
                </a:solidFill>
              </a:rPr>
              <a:t>To calculate key business metrics using Data Analysis Expressions (DAX).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300" dirty="0">
              <a:solidFill>
                <a:schemeClr val="tx1"/>
              </a:solidFill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Steps Taken: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300" b="1" dirty="0">
                <a:solidFill>
                  <a:schemeClr val="tx1"/>
                </a:solidFill>
              </a:rPr>
              <a:t>Total Sales: </a:t>
            </a:r>
            <a:r>
              <a:rPr lang="en-US" sz="1300" dirty="0">
                <a:solidFill>
                  <a:schemeClr val="tx1"/>
                </a:solidFill>
              </a:rPr>
              <a:t>Created a measure Total Sales = SUM(</a:t>
            </a:r>
            <a:r>
              <a:rPr lang="en-US" sz="1300" dirty="0" err="1">
                <a:solidFill>
                  <a:schemeClr val="tx1"/>
                </a:solidFill>
              </a:rPr>
              <a:t>Zomato_Final_Data</a:t>
            </a:r>
            <a:r>
              <a:rPr lang="en-US" sz="1300" dirty="0">
                <a:solidFill>
                  <a:schemeClr val="tx1"/>
                </a:solidFill>
              </a:rPr>
              <a:t>[</a:t>
            </a:r>
            <a:r>
              <a:rPr lang="en-US" sz="1300" dirty="0" err="1">
                <a:solidFill>
                  <a:schemeClr val="tx1"/>
                </a:solidFill>
              </a:rPr>
              <a:t>total_cost</a:t>
            </a:r>
            <a:r>
              <a:rPr lang="en-US" sz="1300" dirty="0">
                <a:solidFill>
                  <a:schemeClr val="tx1"/>
                </a:solidFill>
              </a:rPr>
              <a:t>]).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endParaRPr lang="en-US" sz="1300" dirty="0">
              <a:solidFill>
                <a:schemeClr val="tx1"/>
              </a:solidFill>
            </a:endParaRP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300" b="1" dirty="0">
                <a:solidFill>
                  <a:schemeClr val="tx1"/>
                </a:solidFill>
              </a:rPr>
              <a:t>Average Order Value (AOV): </a:t>
            </a:r>
            <a:r>
              <a:rPr lang="en-US" sz="1300" dirty="0">
                <a:solidFill>
                  <a:schemeClr val="tx1"/>
                </a:solidFill>
              </a:rPr>
              <a:t>Calculated as Avg Order Value = AVERAGE(</a:t>
            </a:r>
            <a:r>
              <a:rPr lang="en-US" sz="1300" dirty="0" err="1">
                <a:solidFill>
                  <a:schemeClr val="tx1"/>
                </a:solidFill>
              </a:rPr>
              <a:t>Zomato_Final_Data</a:t>
            </a:r>
            <a:r>
              <a:rPr lang="en-US" sz="1300" dirty="0">
                <a:solidFill>
                  <a:schemeClr val="tx1"/>
                </a:solidFill>
              </a:rPr>
              <a:t>[</a:t>
            </a:r>
            <a:r>
              <a:rPr lang="en-US" sz="1300" dirty="0" err="1">
                <a:solidFill>
                  <a:schemeClr val="tx1"/>
                </a:solidFill>
              </a:rPr>
              <a:t>total_cost</a:t>
            </a:r>
            <a:r>
              <a:rPr lang="en-US" sz="1300" dirty="0">
                <a:solidFill>
                  <a:schemeClr val="tx1"/>
                </a:solidFill>
              </a:rPr>
              <a:t>]).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3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Insights: </a:t>
            </a:r>
            <a:r>
              <a:rPr lang="en-US" sz="1300" dirty="0">
                <a:solidFill>
                  <a:schemeClr val="tx1"/>
                </a:solidFill>
              </a:rPr>
              <a:t>These measures provide the high-level numbers (₹ 1M Sales, ₹ 1K AOV) that drive the entire business strategy.</a:t>
            </a:r>
          </a:p>
          <a:p>
            <a:pPr algn="just"/>
            <a:endParaRPr lang="en-US" sz="1300" dirty="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300" b="1" dirty="0">
                <a:solidFill>
                  <a:schemeClr val="tx1"/>
                </a:solidFill>
              </a:rPr>
              <a:t>Recommendations: </a:t>
            </a:r>
            <a:r>
              <a:rPr lang="en-US" sz="1300" dirty="0">
                <a:solidFill>
                  <a:schemeClr val="tx1"/>
                </a:solidFill>
              </a:rPr>
              <a:t>Use these DAX measures in KPI Cards at the top of the dashboard for immediate visibility.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339577-9BAD-165D-7DED-00E5A5EA1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439" y="866734"/>
            <a:ext cx="3057952" cy="140037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E5905D-951F-6FA1-7EB6-DF67DC115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518" y="2267104"/>
            <a:ext cx="2457793" cy="1314633"/>
          </a:xfrm>
          <a:prstGeom prst="rect">
            <a:avLst/>
          </a:prstGeom>
        </p:spPr>
      </p:pic>
      <p:pic>
        <p:nvPicPr>
          <p:cNvPr id="10" name="Picture 9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33D923FB-F269-F480-682F-CB17702DB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818" y="3698152"/>
            <a:ext cx="1642732" cy="730103"/>
          </a:xfrm>
          <a:prstGeom prst="rect">
            <a:avLst/>
          </a:prstGeom>
        </p:spPr>
      </p:pic>
      <p:pic>
        <p:nvPicPr>
          <p:cNvPr id="12" name="Picture 1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F5EF9BD7-9436-C150-C239-2F7E2096CF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187" y="3702372"/>
            <a:ext cx="1477152" cy="72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84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D085BFB5-101E-0B96-66AE-890BF024D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57B39339-0214-8F42-1318-63738A157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4 – Top 5 Performing Restaurants (Bar Chart)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E0D2E5B4-0B32-FED4-AF4B-F1932136001F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D6C4FC3D-C751-8E2E-738F-A4ECAC464D76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BE9610D5-8F70-D668-A460-418D829AD05D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DC219F82-B679-1AC3-3739-7548C5F3CFE9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6FC66847-4C16-6AB9-4714-794C6DAAB458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3A6B3604-F054-B486-572E-CDE98B7F70EE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AE11EB0A-6577-7A4D-20DC-57B3200F2491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A783D820-7D13-7EC5-9E67-26CDE48E4403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AA2B9071-C049-D744-A759-9650928AAD23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CCA5972F-5B74-F712-95A7-A11222FE4056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D0271877-AA51-3F76-B371-8999354A1DC1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21237EAE-1104-AAC5-0625-3A1A5EACF4E4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BFDE80E6-0512-EF2B-302B-822B95EDE45B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B314ADFD-683D-53DF-124E-0125B5FCC915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8943613E-CE22-8DAE-917F-99E8BDB8536F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920DE772-5420-F829-2BD4-43C2483735B6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87F54C43-7A79-7C4A-391E-EEA2D5DB3AA0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62F1F79B-EF4F-7A14-57A4-1E90F40EDAC7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22687D67-5299-2E1D-8780-047F4DB7023D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4997D04C-A8C9-C235-4BAE-AA2CEE30AD22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bar graph with numbers and text">
            <a:extLst>
              <a:ext uri="{FF2B5EF4-FFF2-40B4-BE49-F238E27FC236}">
                <a16:creationId xmlns:a16="http://schemas.microsoft.com/office/drawing/2014/main" id="{52F7FD7A-0689-6494-44E9-4860B0C46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781" y="977781"/>
            <a:ext cx="3704977" cy="32225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7B74A8-F920-D355-99CD-3E97499544B9}"/>
              </a:ext>
            </a:extLst>
          </p:cNvPr>
          <p:cNvSpPr txBox="1"/>
          <p:nvPr/>
        </p:nvSpPr>
        <p:spPr>
          <a:xfrm>
            <a:off x="548382" y="977781"/>
            <a:ext cx="43842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Insights: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Mumbai leads the market with the highest number of partner restaurants (235), followed by Bangalore (215). Delhi has the lowest partner count among the major cities at 177.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459BB3-CE2A-3EAE-7C2B-9F9C4BE95275}"/>
              </a:ext>
            </a:extLst>
          </p:cNvPr>
          <p:cNvSpPr txBox="1"/>
          <p:nvPr/>
        </p:nvSpPr>
        <p:spPr>
          <a:xfrm>
            <a:off x="548382" y="268886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/>
              <a:t>Focus on aggressive restaurant onboarding in Delhi to bridge the supply gap and increase market share in the capital city.</a:t>
            </a:r>
          </a:p>
        </p:txBody>
      </p:sp>
    </p:spTree>
    <p:extLst>
      <p:ext uri="{BB962C8B-B14F-4D97-AF65-F5344CB8AC3E}">
        <p14:creationId xmlns:p14="http://schemas.microsoft.com/office/powerpoint/2010/main" val="175107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469BBD09-897D-B6A2-F7CE-B9C5E0B34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3A050BC7-A6EA-42F9-9251-F67A901406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5: Correlation of Rating vs. Cost (Scatter Plot)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B6CFB7D9-A150-CCFF-3D09-A111E9C09374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6E112925-F53B-720F-3C10-E568BF56E44E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61BE3DFA-95C3-3664-8FD4-FA2A4EEF928D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A23DA201-14BF-FDAD-6BE4-8091F3B3ADB2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A4124C24-2C94-1B3C-1372-2D0F31D7351C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B0B7071A-D6A1-3CC0-0EA6-25D3EB3F6D77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A06E397E-8762-6249-ED7A-9FC169039E79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77E46528-3410-3ED8-C274-83F16AE1587F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0B160A4E-CF31-E5A8-A054-1F0A44213BAF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7CF6E004-3F16-F1D7-8CB2-0DAF3D946D73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8F3B1856-0CD1-8379-2D9D-63397018A04A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953E8804-3042-45AD-BF8D-D8608191505A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216BE4D5-BFA1-A098-8B39-A0B499864B68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78BC2EF7-0BC0-76AD-F8B2-88A07C11952F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10D6BD0E-47BF-0763-2F1D-A23DD01EF735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F07CD897-2222-0A29-F6ED-91C1731A4B49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9C923921-5576-007F-1D1C-272A5336700D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4D81A58-D526-5831-A32E-524C29996DD4}"/>
              </a:ext>
            </a:extLst>
          </p:cNvPr>
          <p:cNvSpPr txBox="1"/>
          <p:nvPr/>
        </p:nvSpPr>
        <p:spPr>
          <a:xfrm>
            <a:off x="216744" y="3227285"/>
            <a:ext cx="4216906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Insights: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Insight: There is a clear concentration of restaurants in the low-to-mid cost range (₹0 - ₹4K) with varied ratings. High-cost restaurants (₹8K+) generally maintain a consistent rating above 3.5, indicating better service quality in premium segments.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96A1B5-8405-2872-884E-4EB6570F95FE}"/>
              </a:ext>
            </a:extLst>
          </p:cNvPr>
          <p:cNvSpPr txBox="1"/>
          <p:nvPr/>
        </p:nvSpPr>
        <p:spPr>
          <a:xfrm>
            <a:off x="4710352" y="3227285"/>
            <a:ext cx="4280714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/>
              <a:t>Implement a "Quality Support Program" for low-cost restaurants with ratings below 3.0 to help them improve service without significantly increasing prices.</a:t>
            </a:r>
          </a:p>
        </p:txBody>
      </p:sp>
      <p:pic>
        <p:nvPicPr>
          <p:cNvPr id="7" name="Picture 6" descr="A graph with blue dots">
            <a:extLst>
              <a:ext uri="{FF2B5EF4-FFF2-40B4-BE49-F238E27FC236}">
                <a16:creationId xmlns:a16="http://schemas.microsoft.com/office/drawing/2014/main" id="{0F88AD8F-0AAC-DA7A-426F-535665BDE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2872" y="918860"/>
            <a:ext cx="4854027" cy="209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22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515373B2-D2A5-ADEA-DA90-7033B486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0C2CCAD7-C035-78FC-FB96-9FE45BA92F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6: Seasonal Sales Performance (Line Chart)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4978C4C2-6D7C-6E29-38C1-7370FAF434B6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F624129E-D4D3-503D-EA1D-F3F356E2C2C6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E6A743CF-4094-24F2-114A-282118937A2E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1A0DD9AA-5F92-B0C4-411F-0BCA1E96A68C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DEF7652B-4883-8401-4BC4-05AD43FAD27F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8170549A-826D-803D-7C8D-C0B1543D5A9A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6399688F-AC10-0CF9-F386-D29BE54B588F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AE7ECBF1-C5D0-A6F1-4200-CE06580D8AE0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1CA7A7EA-F00D-C5E3-FF54-0DD735367B8C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6A3D5C15-41EB-BE13-797F-869AE111DB3C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0FDEA5AE-1BD3-A6CA-0849-8639E7BFEAFA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28D36E03-60CA-91CA-F602-4C03BD78EE03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4C2CBFE2-944F-E555-13F7-A61E3192F3C1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58FFB76F-7640-5295-9BD8-A6666F7180DC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25CDB982-1007-044B-7F7E-D4B73C893155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B5148327-5008-8634-F014-9A3C798F162A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16F2B08E-0F41-3A4D-12DA-7167948C9D5C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3FDFB124-26A1-D648-78B3-ED9AE1F47938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61DCD760-6E31-BEF6-8D1B-457279D00921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038E3EFA-A83D-52EC-6B7C-543A0386875A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51924F1-43EF-15F7-068C-57BC6BBC1284}"/>
              </a:ext>
            </a:extLst>
          </p:cNvPr>
          <p:cNvSpPr txBox="1"/>
          <p:nvPr/>
        </p:nvSpPr>
        <p:spPr>
          <a:xfrm>
            <a:off x="548382" y="977781"/>
            <a:ext cx="4384246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Insights: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Revenue is highly seasonal, peaking in June (₹100K) and November (₹101K). A significant "slump" occurs in August, where sales drop to ₹71K.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07B41-0836-A810-7829-053EE8EC96B0}"/>
              </a:ext>
            </a:extLst>
          </p:cNvPr>
          <p:cNvSpPr txBox="1"/>
          <p:nvPr/>
        </p:nvSpPr>
        <p:spPr>
          <a:xfrm>
            <a:off x="548382" y="268886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/>
              <a:t>Launch "August Monsoon Festivals" or exclusive discount weeks during the August slump to stabilize the yearly revenue curve.</a:t>
            </a:r>
          </a:p>
        </p:txBody>
      </p:sp>
      <p:pic>
        <p:nvPicPr>
          <p:cNvPr id="4" name="Picture 3" descr="A graph with blue line and numbers">
            <a:extLst>
              <a:ext uri="{FF2B5EF4-FFF2-40B4-BE49-F238E27FC236}">
                <a16:creationId xmlns:a16="http://schemas.microsoft.com/office/drawing/2014/main" id="{391B8E26-D1A1-3F60-2A47-E778F3513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382" y="947629"/>
            <a:ext cx="3769374" cy="270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4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D3C89610-067E-0B79-DD34-E7A8AFC9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4B3902E6-ECCA-4550-5E70-BAEE5FB877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7: Geographic Order Density (Heat Map)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39D422DB-15A8-A482-1A06-2AD03CC5C293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1C3C634F-3D2C-E23F-B605-D08A38917E03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6396258C-0BF9-0C17-9B72-97626F888E82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679E2DEB-48D9-D3E3-0A01-742259E244EB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4FEDFACA-4B41-8E08-C76A-E023FAFD71BE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4D669D05-77E3-A96D-8919-C1D17923355E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369A9E98-89A4-C64A-7854-ACCE69C6F095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7F3BF8D2-FA39-3B72-4442-B4E282A3E53D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04785100-3994-8741-7AF1-811AC74428EB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3FDBA2C4-A50A-3325-03D9-1C04048E2D98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F8D1FB20-E112-955F-E262-D056C77D20FC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BB865834-86CE-9BCE-C1D2-7CD96F1B7449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4078776C-364C-8D5A-F8A7-40E160E9B859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4CEFC35A-4509-4A92-BF8A-B7E883CCE118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40B7B6E3-0FEE-F23C-80C6-968B5906D7F6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EC2315A9-665A-51B8-13E3-D24975B4000F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B3F8286E-B6A0-1FF3-B5DB-D282C2159833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9C51125A-8685-4DDF-CFA5-0C4FD0A4F200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7B5EDE38-007E-EFA3-AADF-09FE3239A682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712A3822-1E23-9179-FE6B-6370CEEAF6E5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75099F6-93F9-FD32-0E84-74C340DC95BE}"/>
              </a:ext>
            </a:extLst>
          </p:cNvPr>
          <p:cNvSpPr txBox="1"/>
          <p:nvPr/>
        </p:nvSpPr>
        <p:spPr>
          <a:xfrm>
            <a:off x="548382" y="977781"/>
            <a:ext cx="43842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Insights: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The Heat Map confirms that the South and West regions (Bangalore &amp; Mumbai) are the primary revenue engines. Northern regions show scattered demand with lower density.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668DF-2A95-FC18-92C1-4CAB3A83825E}"/>
              </a:ext>
            </a:extLst>
          </p:cNvPr>
          <p:cNvSpPr txBox="1"/>
          <p:nvPr/>
        </p:nvSpPr>
        <p:spPr>
          <a:xfrm>
            <a:off x="548382" y="2688860"/>
            <a:ext cx="45720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dirty="0"/>
              <a:t>Allocate higher marketing budgets for localized ads in Mumbai and Bangalore to capitalize on the high order intent already present there.</a:t>
            </a:r>
          </a:p>
        </p:txBody>
      </p:sp>
      <p:pic>
        <p:nvPicPr>
          <p:cNvPr id="3" name="Picture 2" descr="A map of india with orange dots">
            <a:extLst>
              <a:ext uri="{FF2B5EF4-FFF2-40B4-BE49-F238E27FC236}">
                <a16:creationId xmlns:a16="http://schemas.microsoft.com/office/drawing/2014/main" id="{66184180-A721-EAAB-4109-CB23FBE40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767" y="977316"/>
            <a:ext cx="2924583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250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F6E2FF39-3B44-9D47-D612-273AB2CF5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5A606639-E807-38E2-AB58-05B85D4B9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en-US" sz="2000" dirty="0"/>
              <a:t>Task 8 – Key Performance Indicators (KPIs)</a:t>
            </a:r>
            <a:endParaRPr sz="2000" b="0" dirty="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3C985348-359C-8974-6740-207A7A2082AA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4E4AB5F2-0F0B-D224-36E3-08C5332A1EF1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529D8462-ED8D-AFC3-334A-A91B8F8D25DE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54E94F88-3D47-F439-8404-772F63BADA0C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26C5EA22-4737-1CF2-F7FE-6857AF94ED7C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9192E87A-F63D-0577-CFDE-5CD9992E5DC9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A3DFA742-AA28-3E41-484C-72EC61739C7B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E13F4C66-871D-0B1A-8AB8-2190CB46755C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3861CC67-29BF-6878-EC97-B16DDF499404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B72567FC-B281-F094-7B0C-DF23D49A2D80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7231CC55-8E9F-161C-F8BE-4481201AFB44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0C30B4E7-23CF-15AF-A818-AC6842AFCB12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BB5B1989-F232-67D1-1096-ABEE4737C375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D9500276-CD33-D5F2-7728-9BEE61FCA65A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BF9E4EE3-99E2-023F-C9E1-820DC122C709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10378929-C60F-A35C-E78D-D2993BBBD2EC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E9EA2B07-4BDC-62A0-C1B8-DEFDF5CB58DB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DC53D977-4BC4-BDDD-C040-198715C60BF9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38F4A62E-AC35-FABE-25D8-8774FF324401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75CF247D-1EAA-A55B-7245-82C0F8D35D48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C979A80-0F74-8CA8-D7AD-5BF18145A7CE}"/>
              </a:ext>
            </a:extLst>
          </p:cNvPr>
          <p:cNvSpPr txBox="1"/>
          <p:nvPr/>
        </p:nvSpPr>
        <p:spPr>
          <a:xfrm>
            <a:off x="201076" y="2380973"/>
            <a:ext cx="4384246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Insights: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b="1" dirty="0">
                <a:solidFill>
                  <a:schemeClr val="tx1"/>
                </a:solidFill>
                <a:latin typeface="Arial" panose="020B0604020202020204" pitchFamily="34" charset="0"/>
              </a:rPr>
              <a:t>Revenue Milestone</a:t>
            </a: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: The platform has achieved a total sales volume of ₹1M, indicating a strong market presence.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b="1" dirty="0">
                <a:solidFill>
                  <a:schemeClr val="tx1"/>
                </a:solidFill>
                <a:latin typeface="Arial" panose="020B0604020202020204" pitchFamily="34" charset="0"/>
              </a:rPr>
              <a:t>Stability of AOV</a:t>
            </a: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: The Average Order Value (AOV) stands at ₹1K, suggesting that the typical customer prefers mid-range dining options.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b="1" dirty="0">
                <a:solidFill>
                  <a:schemeClr val="tx1"/>
                </a:solidFill>
                <a:latin typeface="Arial" panose="020B0604020202020204" pitchFamily="34" charset="0"/>
              </a:rPr>
              <a:t>Trend Awareness</a:t>
            </a: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: The sparkline on the KPI card shows significant daily fluctuations, identifying specific peak days for sales.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B9F9D-67A3-5E80-0777-DF44E003A0AE}"/>
              </a:ext>
            </a:extLst>
          </p:cNvPr>
          <p:cNvSpPr txBox="1"/>
          <p:nvPr/>
        </p:nvSpPr>
        <p:spPr>
          <a:xfrm>
            <a:off x="4533728" y="2480141"/>
            <a:ext cx="4211006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US" sz="13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/>
              <a:t>Upselling Strategy</a:t>
            </a:r>
            <a:r>
              <a:rPr lang="en-US" sz="1300" dirty="0"/>
              <a:t>: Implement a "Frequently Bought Together" feature to increase the current AOV from ₹1K to ₹1.2K.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/>
              <a:t>Growth Target</a:t>
            </a:r>
            <a:r>
              <a:rPr lang="en-US" sz="1300" dirty="0"/>
              <a:t>: Aim for a 15% increase in Total Sales by focusing on high-performing days identified in the trend line.</a:t>
            </a:r>
          </a:p>
        </p:txBody>
      </p:sp>
      <p:pic>
        <p:nvPicPr>
          <p:cNvPr id="4" name="Picture 3" descr="A close-up of a date">
            <a:extLst>
              <a:ext uri="{FF2B5EF4-FFF2-40B4-BE49-F238E27FC236}">
                <a16:creationId xmlns:a16="http://schemas.microsoft.com/office/drawing/2014/main" id="{BB3F1D23-16FD-77C3-BF23-7D9C89C70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75" y="1090479"/>
            <a:ext cx="8278104" cy="111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3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C2A0CD8C-CC99-BAFF-3F95-41B34E34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31A9528D-24AA-2D9E-829B-45888A97F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95450" y="352425"/>
            <a:ext cx="5153100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en-US" sz="2000" dirty="0"/>
              <a:t>Task 9 – Restaurant Performance Summary (Table)</a:t>
            </a: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F8C0B061-36D9-4B8F-74B3-51199B6E9510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F99A26F3-B6D1-E4BE-D8CA-9C05936C69B7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F7583E06-1C5A-25C6-CFAA-9A14829853C6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59B3F121-F466-53EC-A646-666BD7D7C55D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269A73E3-1F63-7258-2557-4BE7C491348B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0FDE0215-6F2F-C50D-F241-200853C448FF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DAB1FA59-1957-30F3-DF6C-8E29FA4D19BD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6CCAB63F-0BA0-F88F-F11F-7006A5E055C1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77B21AF5-870E-EB92-3020-54DCAF4F28E4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27FD2EA5-9454-3ABB-CAF9-01DCFACD7463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EADC15DC-E745-767C-0F73-30CB52A6678F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D7DEE83D-BBF0-C2D9-A2F9-5AADD6AC4083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AACB1A6E-BB5B-E1FF-0346-34F6E70FA30D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9470BEAF-0AB6-EB9F-9B65-51E60FA3F04C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7E9E33BB-6A7C-643E-39F6-07B16E95C3BD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E5FFFC17-3A1C-8C18-ADBA-8EB2A981A2D1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AB8F0278-561D-3148-875B-3DD3EA9D0BD5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5987BAD7-5880-8C49-C6D6-2D732B1A6DAB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2A9621FC-2A36-4765-8BAC-C9BA4C716371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F8C4C18B-8445-A2FA-1C04-D6A4F455DBDF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3DEDF25-9686-AB9C-7EBE-4176DFCA6D16}"/>
              </a:ext>
            </a:extLst>
          </p:cNvPr>
          <p:cNvSpPr txBox="1"/>
          <p:nvPr/>
        </p:nvSpPr>
        <p:spPr>
          <a:xfrm>
            <a:off x="293112" y="787125"/>
            <a:ext cx="5193172" cy="2314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Insights: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b="1" dirty="0">
                <a:solidFill>
                  <a:schemeClr val="tx1"/>
                </a:solidFill>
                <a:latin typeface="Arial" panose="020B0604020202020204" pitchFamily="34" charset="0"/>
              </a:rPr>
              <a:t>Performance Variance</a:t>
            </a: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: Restaurant_170 is a top-tier performer with an AOV of ₹1,685, which is significantly higher than the platform average.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b="1" dirty="0">
                <a:solidFill>
                  <a:schemeClr val="tx1"/>
                </a:solidFill>
                <a:latin typeface="Arial" panose="020B0604020202020204" pitchFamily="34" charset="0"/>
              </a:rPr>
              <a:t>Underperformance Identification</a:t>
            </a: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: Using conditional formatting, Restaurant_425 (₹269) and Restaurant_332 (₹453) are flagged in Red as low-revenue partners.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300" b="1" dirty="0">
                <a:solidFill>
                  <a:schemeClr val="tx1"/>
                </a:solidFill>
                <a:latin typeface="Arial" panose="020B0604020202020204" pitchFamily="34" charset="0"/>
              </a:rPr>
              <a:t>High-Volume Leaders</a:t>
            </a:r>
            <a:r>
              <a:rPr lang="en-US" altLang="en-US" sz="1300" dirty="0">
                <a:solidFill>
                  <a:schemeClr val="tx1"/>
                </a:solidFill>
                <a:latin typeface="Arial" panose="020B0604020202020204" pitchFamily="34" charset="0"/>
              </a:rPr>
              <a:t>: Restaurants like Restaurant_363 show high total sales (₹1,612) combined with healthy AOV, indicating consistent customer demand.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D78106-C636-24E7-47A0-324EFC22F257}"/>
              </a:ext>
            </a:extLst>
          </p:cNvPr>
          <p:cNvSpPr txBox="1"/>
          <p:nvPr/>
        </p:nvSpPr>
        <p:spPr>
          <a:xfrm>
            <a:off x="288825" y="3151834"/>
            <a:ext cx="5308549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US" sz="13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/>
              <a:t>Premium Selection Category</a:t>
            </a:r>
            <a:r>
              <a:rPr lang="en-US" sz="1300" dirty="0"/>
              <a:t>: Create a "Gold Membership" or "Premium Selection" for restaurants with AOV &gt; ₹1.5K to attract high-spending customers.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300" b="1" dirty="0"/>
              <a:t>Strategic Support</a:t>
            </a:r>
            <a:r>
              <a:rPr lang="en-US" sz="1300" dirty="0"/>
              <a:t>: For restaurants in the Red zone (e.g., Restaurant_425), offer "Budget Combo Bundles" to increase their order volume and visibility on the platform.</a:t>
            </a:r>
          </a:p>
        </p:txBody>
      </p:sp>
      <p:pic>
        <p:nvPicPr>
          <p:cNvPr id="5" name="Picture 4" descr="A screenshot of a data">
            <a:extLst>
              <a:ext uri="{FF2B5EF4-FFF2-40B4-BE49-F238E27FC236}">
                <a16:creationId xmlns:a16="http://schemas.microsoft.com/office/drawing/2014/main" id="{6CA40102-B868-106D-79EE-799795923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544" y="926455"/>
            <a:ext cx="3397734" cy="319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5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C1907FC0-E057-7BA8-C1A0-FF0B1B82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2">
            <a:extLst>
              <a:ext uri="{FF2B5EF4-FFF2-40B4-BE49-F238E27FC236}">
                <a16:creationId xmlns:a16="http://schemas.microsoft.com/office/drawing/2014/main" id="{70059E1C-1E0E-BECE-49A2-78464C5DDA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1237" y="322763"/>
            <a:ext cx="5401526" cy="434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en-US" sz="2000" dirty="0"/>
              <a:t>Task 10 – Integrated Business Intelligence Dashboard</a:t>
            </a:r>
          </a:p>
        </p:txBody>
      </p:sp>
      <p:grpSp>
        <p:nvGrpSpPr>
          <p:cNvPr id="459" name="Google Shape;459;p22">
            <a:extLst>
              <a:ext uri="{FF2B5EF4-FFF2-40B4-BE49-F238E27FC236}">
                <a16:creationId xmlns:a16="http://schemas.microsoft.com/office/drawing/2014/main" id="{7C84F216-6B8D-35E5-0965-2A22158D39BC}"/>
              </a:ext>
            </a:extLst>
          </p:cNvPr>
          <p:cNvGrpSpPr/>
          <p:nvPr/>
        </p:nvGrpSpPr>
        <p:grpSpPr>
          <a:xfrm>
            <a:off x="5682183" y="1336621"/>
            <a:ext cx="397691" cy="395590"/>
            <a:chOff x="7986195" y="4849421"/>
            <a:chExt cx="397691" cy="395590"/>
          </a:xfrm>
        </p:grpSpPr>
        <p:sp>
          <p:nvSpPr>
            <p:cNvPr id="460" name="Google Shape;460;p22">
              <a:extLst>
                <a:ext uri="{FF2B5EF4-FFF2-40B4-BE49-F238E27FC236}">
                  <a16:creationId xmlns:a16="http://schemas.microsoft.com/office/drawing/2014/main" id="{F54C564D-CE69-80D5-CA58-BBBC5198F1C6}"/>
                </a:ext>
              </a:extLst>
            </p:cNvPr>
            <p:cNvSpPr/>
            <p:nvPr/>
          </p:nvSpPr>
          <p:spPr>
            <a:xfrm>
              <a:off x="8084814" y="4990322"/>
              <a:ext cx="16969" cy="15511"/>
            </a:xfrm>
            <a:custGeom>
              <a:avLst/>
              <a:gdLst/>
              <a:ahLst/>
              <a:cxnLst/>
              <a:rect l="l" t="t" r="r" b="b"/>
              <a:pathLst>
                <a:path w="1106" h="1011" extrusionOk="0">
                  <a:moveTo>
                    <a:pt x="555" y="1"/>
                  </a:moveTo>
                  <a:cubicBezTo>
                    <a:pt x="427" y="1"/>
                    <a:pt x="298" y="50"/>
                    <a:pt x="196" y="148"/>
                  </a:cubicBezTo>
                  <a:lnTo>
                    <a:pt x="196" y="154"/>
                  </a:lnTo>
                  <a:cubicBezTo>
                    <a:pt x="0" y="350"/>
                    <a:pt x="0" y="671"/>
                    <a:pt x="196" y="867"/>
                  </a:cubicBezTo>
                  <a:cubicBezTo>
                    <a:pt x="295" y="965"/>
                    <a:pt x="419" y="1011"/>
                    <a:pt x="550" y="1011"/>
                  </a:cubicBezTo>
                  <a:cubicBezTo>
                    <a:pt x="680" y="1011"/>
                    <a:pt x="811" y="965"/>
                    <a:pt x="909" y="867"/>
                  </a:cubicBezTo>
                  <a:lnTo>
                    <a:pt x="909" y="860"/>
                  </a:lnTo>
                  <a:cubicBezTo>
                    <a:pt x="1105" y="664"/>
                    <a:pt x="1105" y="344"/>
                    <a:pt x="909" y="148"/>
                  </a:cubicBezTo>
                  <a:cubicBezTo>
                    <a:pt x="811" y="50"/>
                    <a:pt x="684" y="1"/>
                    <a:pt x="5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2">
              <a:extLst>
                <a:ext uri="{FF2B5EF4-FFF2-40B4-BE49-F238E27FC236}">
                  <a16:creationId xmlns:a16="http://schemas.microsoft.com/office/drawing/2014/main" id="{248A2462-743D-14E4-79EB-44FDB12BD528}"/>
                </a:ext>
              </a:extLst>
            </p:cNvPr>
            <p:cNvSpPr/>
            <p:nvPr/>
          </p:nvSpPr>
          <p:spPr>
            <a:xfrm>
              <a:off x="7986195" y="4891059"/>
              <a:ext cx="353951" cy="353951"/>
            </a:xfrm>
            <a:custGeom>
              <a:avLst/>
              <a:gdLst/>
              <a:ahLst/>
              <a:cxnLst/>
              <a:rect l="l" t="t" r="r" b="b"/>
              <a:pathLst>
                <a:path w="23070" h="23070" extrusionOk="0">
                  <a:moveTo>
                    <a:pt x="10012" y="0"/>
                  </a:moveTo>
                  <a:cubicBezTo>
                    <a:pt x="9488" y="0"/>
                    <a:pt x="9063" y="432"/>
                    <a:pt x="9063" y="955"/>
                  </a:cubicBezTo>
                  <a:lnTo>
                    <a:pt x="9063" y="2237"/>
                  </a:lnTo>
                  <a:cubicBezTo>
                    <a:pt x="8240" y="2459"/>
                    <a:pt x="7448" y="2786"/>
                    <a:pt x="6716" y="3211"/>
                  </a:cubicBezTo>
                  <a:lnTo>
                    <a:pt x="5807" y="2302"/>
                  </a:lnTo>
                  <a:cubicBezTo>
                    <a:pt x="5621" y="2116"/>
                    <a:pt x="5377" y="2023"/>
                    <a:pt x="5134" y="2023"/>
                  </a:cubicBezTo>
                  <a:cubicBezTo>
                    <a:pt x="4890" y="2023"/>
                    <a:pt x="4646" y="2116"/>
                    <a:pt x="4460" y="2302"/>
                  </a:cubicBezTo>
                  <a:lnTo>
                    <a:pt x="2302" y="4460"/>
                  </a:lnTo>
                  <a:cubicBezTo>
                    <a:pt x="1930" y="4833"/>
                    <a:pt x="1930" y="5434"/>
                    <a:pt x="2302" y="5807"/>
                  </a:cubicBezTo>
                  <a:lnTo>
                    <a:pt x="3218" y="6716"/>
                  </a:lnTo>
                  <a:cubicBezTo>
                    <a:pt x="2793" y="7455"/>
                    <a:pt x="2466" y="8239"/>
                    <a:pt x="2250" y="9063"/>
                  </a:cubicBezTo>
                  <a:lnTo>
                    <a:pt x="955" y="9063"/>
                  </a:lnTo>
                  <a:cubicBezTo>
                    <a:pt x="432" y="9063"/>
                    <a:pt x="1" y="9488"/>
                    <a:pt x="1" y="10011"/>
                  </a:cubicBezTo>
                  <a:lnTo>
                    <a:pt x="1" y="13065"/>
                  </a:lnTo>
                  <a:cubicBezTo>
                    <a:pt x="1" y="13588"/>
                    <a:pt x="432" y="14013"/>
                    <a:pt x="955" y="14013"/>
                  </a:cubicBezTo>
                  <a:lnTo>
                    <a:pt x="2250" y="14013"/>
                  </a:lnTo>
                  <a:cubicBezTo>
                    <a:pt x="2466" y="14830"/>
                    <a:pt x="2793" y="15615"/>
                    <a:pt x="3218" y="16354"/>
                  </a:cubicBezTo>
                  <a:lnTo>
                    <a:pt x="2302" y="17269"/>
                  </a:lnTo>
                  <a:cubicBezTo>
                    <a:pt x="1930" y="17642"/>
                    <a:pt x="1930" y="18243"/>
                    <a:pt x="2302" y="18616"/>
                  </a:cubicBezTo>
                  <a:lnTo>
                    <a:pt x="4460" y="20774"/>
                  </a:lnTo>
                  <a:cubicBezTo>
                    <a:pt x="4646" y="20957"/>
                    <a:pt x="4890" y="21049"/>
                    <a:pt x="5134" y="21049"/>
                  </a:cubicBezTo>
                  <a:cubicBezTo>
                    <a:pt x="5377" y="21049"/>
                    <a:pt x="5621" y="20957"/>
                    <a:pt x="5807" y="20774"/>
                  </a:cubicBezTo>
                  <a:lnTo>
                    <a:pt x="6723" y="19852"/>
                  </a:lnTo>
                  <a:cubicBezTo>
                    <a:pt x="7455" y="20277"/>
                    <a:pt x="8240" y="20604"/>
                    <a:pt x="9063" y="20826"/>
                  </a:cubicBezTo>
                  <a:lnTo>
                    <a:pt x="9063" y="22121"/>
                  </a:lnTo>
                  <a:cubicBezTo>
                    <a:pt x="9063" y="22644"/>
                    <a:pt x="9488" y="23069"/>
                    <a:pt x="10012" y="23069"/>
                  </a:cubicBezTo>
                  <a:lnTo>
                    <a:pt x="13059" y="23069"/>
                  </a:lnTo>
                  <a:cubicBezTo>
                    <a:pt x="13588" y="23069"/>
                    <a:pt x="14013" y="22644"/>
                    <a:pt x="14013" y="22121"/>
                  </a:cubicBezTo>
                  <a:lnTo>
                    <a:pt x="14013" y="20826"/>
                  </a:lnTo>
                  <a:cubicBezTo>
                    <a:pt x="14831" y="20611"/>
                    <a:pt x="15622" y="20284"/>
                    <a:pt x="16354" y="19859"/>
                  </a:cubicBezTo>
                  <a:lnTo>
                    <a:pt x="17270" y="20774"/>
                  </a:lnTo>
                  <a:cubicBezTo>
                    <a:pt x="17456" y="20957"/>
                    <a:pt x="17699" y="21049"/>
                    <a:pt x="17943" y="21049"/>
                  </a:cubicBezTo>
                  <a:cubicBezTo>
                    <a:pt x="18187" y="21049"/>
                    <a:pt x="18430" y="20957"/>
                    <a:pt x="18617" y="20774"/>
                  </a:cubicBezTo>
                  <a:lnTo>
                    <a:pt x="20768" y="18616"/>
                  </a:lnTo>
                  <a:cubicBezTo>
                    <a:pt x="21141" y="18243"/>
                    <a:pt x="21141" y="17642"/>
                    <a:pt x="20768" y="17269"/>
                  </a:cubicBezTo>
                  <a:lnTo>
                    <a:pt x="19859" y="16360"/>
                  </a:lnTo>
                  <a:cubicBezTo>
                    <a:pt x="20290" y="15621"/>
                    <a:pt x="20617" y="14837"/>
                    <a:pt x="20833" y="14013"/>
                  </a:cubicBezTo>
                  <a:lnTo>
                    <a:pt x="22121" y="14013"/>
                  </a:lnTo>
                  <a:cubicBezTo>
                    <a:pt x="22644" y="14013"/>
                    <a:pt x="23069" y="13588"/>
                    <a:pt x="23069" y="13058"/>
                  </a:cubicBezTo>
                  <a:lnTo>
                    <a:pt x="23069" y="10011"/>
                  </a:lnTo>
                  <a:cubicBezTo>
                    <a:pt x="23069" y="9488"/>
                    <a:pt x="22644" y="9063"/>
                    <a:pt x="22121" y="9063"/>
                  </a:cubicBezTo>
                  <a:lnTo>
                    <a:pt x="20840" y="9063"/>
                  </a:lnTo>
                  <a:cubicBezTo>
                    <a:pt x="20768" y="8802"/>
                    <a:pt x="20689" y="8540"/>
                    <a:pt x="20598" y="8292"/>
                  </a:cubicBezTo>
                  <a:cubicBezTo>
                    <a:pt x="20525" y="8085"/>
                    <a:pt x="20331" y="7956"/>
                    <a:pt x="20123" y="7956"/>
                  </a:cubicBezTo>
                  <a:cubicBezTo>
                    <a:pt x="20068" y="7956"/>
                    <a:pt x="20012" y="7965"/>
                    <a:pt x="19957" y="7984"/>
                  </a:cubicBezTo>
                  <a:cubicBezTo>
                    <a:pt x="19695" y="8082"/>
                    <a:pt x="19558" y="8370"/>
                    <a:pt x="19650" y="8632"/>
                  </a:cubicBezTo>
                  <a:cubicBezTo>
                    <a:pt x="19735" y="8867"/>
                    <a:pt x="19813" y="9115"/>
                    <a:pt x="19872" y="9357"/>
                  </a:cubicBezTo>
                  <a:cubicBezTo>
                    <a:pt x="19983" y="9776"/>
                    <a:pt x="20362" y="10070"/>
                    <a:pt x="20794" y="10070"/>
                  </a:cubicBezTo>
                  <a:lnTo>
                    <a:pt x="22062" y="10070"/>
                  </a:lnTo>
                  <a:lnTo>
                    <a:pt x="22062" y="13006"/>
                  </a:lnTo>
                  <a:lnTo>
                    <a:pt x="20794" y="13006"/>
                  </a:lnTo>
                  <a:cubicBezTo>
                    <a:pt x="20356" y="13006"/>
                    <a:pt x="19983" y="13300"/>
                    <a:pt x="19872" y="13712"/>
                  </a:cubicBezTo>
                  <a:cubicBezTo>
                    <a:pt x="19669" y="14477"/>
                    <a:pt x="19368" y="15210"/>
                    <a:pt x="18970" y="15890"/>
                  </a:cubicBezTo>
                  <a:cubicBezTo>
                    <a:pt x="18747" y="16262"/>
                    <a:pt x="18813" y="16733"/>
                    <a:pt x="19120" y="17040"/>
                  </a:cubicBezTo>
                  <a:lnTo>
                    <a:pt x="20022" y="17943"/>
                  </a:lnTo>
                  <a:lnTo>
                    <a:pt x="17943" y="20022"/>
                  </a:lnTo>
                  <a:lnTo>
                    <a:pt x="17034" y="19113"/>
                  </a:lnTo>
                  <a:cubicBezTo>
                    <a:pt x="16853" y="18932"/>
                    <a:pt x="16607" y="18836"/>
                    <a:pt x="16359" y="18836"/>
                  </a:cubicBezTo>
                  <a:cubicBezTo>
                    <a:pt x="16195" y="18836"/>
                    <a:pt x="16031" y="18877"/>
                    <a:pt x="15883" y="18963"/>
                  </a:cubicBezTo>
                  <a:cubicBezTo>
                    <a:pt x="15203" y="19362"/>
                    <a:pt x="14478" y="19662"/>
                    <a:pt x="13719" y="19865"/>
                  </a:cubicBezTo>
                  <a:cubicBezTo>
                    <a:pt x="13301" y="19970"/>
                    <a:pt x="13006" y="20349"/>
                    <a:pt x="13006" y="20781"/>
                  </a:cubicBezTo>
                  <a:lnTo>
                    <a:pt x="13006" y="22062"/>
                  </a:lnTo>
                  <a:lnTo>
                    <a:pt x="10070" y="22062"/>
                  </a:lnTo>
                  <a:lnTo>
                    <a:pt x="10070" y="20781"/>
                  </a:lnTo>
                  <a:cubicBezTo>
                    <a:pt x="10070" y="20349"/>
                    <a:pt x="9776" y="19970"/>
                    <a:pt x="9358" y="19859"/>
                  </a:cubicBezTo>
                  <a:cubicBezTo>
                    <a:pt x="8599" y="19662"/>
                    <a:pt x="7873" y="19362"/>
                    <a:pt x="7193" y="18963"/>
                  </a:cubicBezTo>
                  <a:cubicBezTo>
                    <a:pt x="7045" y="18874"/>
                    <a:pt x="6880" y="18831"/>
                    <a:pt x="6717" y="18831"/>
                  </a:cubicBezTo>
                  <a:cubicBezTo>
                    <a:pt x="6471" y="18831"/>
                    <a:pt x="6227" y="18928"/>
                    <a:pt x="6043" y="19113"/>
                  </a:cubicBezTo>
                  <a:lnTo>
                    <a:pt x="5134" y="20022"/>
                  </a:lnTo>
                  <a:lnTo>
                    <a:pt x="3054" y="17943"/>
                  </a:lnTo>
                  <a:lnTo>
                    <a:pt x="3963" y="17034"/>
                  </a:lnTo>
                  <a:cubicBezTo>
                    <a:pt x="4271" y="16727"/>
                    <a:pt x="4329" y="16256"/>
                    <a:pt x="4114" y="15883"/>
                  </a:cubicBezTo>
                  <a:cubicBezTo>
                    <a:pt x="3715" y="15203"/>
                    <a:pt x="3414" y="14477"/>
                    <a:pt x="3211" y="13712"/>
                  </a:cubicBezTo>
                  <a:cubicBezTo>
                    <a:pt x="3107" y="13300"/>
                    <a:pt x="2727" y="13006"/>
                    <a:pt x="2296" y="13006"/>
                  </a:cubicBezTo>
                  <a:lnTo>
                    <a:pt x="1008" y="13006"/>
                  </a:lnTo>
                  <a:lnTo>
                    <a:pt x="1008" y="10070"/>
                  </a:lnTo>
                  <a:lnTo>
                    <a:pt x="2289" y="10070"/>
                  </a:lnTo>
                  <a:cubicBezTo>
                    <a:pt x="2727" y="10070"/>
                    <a:pt x="3100" y="9776"/>
                    <a:pt x="3211" y="9357"/>
                  </a:cubicBezTo>
                  <a:cubicBezTo>
                    <a:pt x="3407" y="8599"/>
                    <a:pt x="3708" y="7867"/>
                    <a:pt x="4107" y="7186"/>
                  </a:cubicBezTo>
                  <a:cubicBezTo>
                    <a:pt x="4329" y="6814"/>
                    <a:pt x="4264" y="6343"/>
                    <a:pt x="3957" y="6036"/>
                  </a:cubicBezTo>
                  <a:lnTo>
                    <a:pt x="3054" y="5133"/>
                  </a:lnTo>
                  <a:lnTo>
                    <a:pt x="5134" y="3054"/>
                  </a:lnTo>
                  <a:lnTo>
                    <a:pt x="6036" y="3956"/>
                  </a:lnTo>
                  <a:cubicBezTo>
                    <a:pt x="6220" y="4141"/>
                    <a:pt x="6463" y="4236"/>
                    <a:pt x="6709" y="4236"/>
                  </a:cubicBezTo>
                  <a:cubicBezTo>
                    <a:pt x="6873" y="4236"/>
                    <a:pt x="7038" y="4193"/>
                    <a:pt x="7187" y="4107"/>
                  </a:cubicBezTo>
                  <a:cubicBezTo>
                    <a:pt x="7867" y="3708"/>
                    <a:pt x="8599" y="3401"/>
                    <a:pt x="9358" y="3204"/>
                  </a:cubicBezTo>
                  <a:cubicBezTo>
                    <a:pt x="9776" y="3093"/>
                    <a:pt x="10070" y="2714"/>
                    <a:pt x="10070" y="2282"/>
                  </a:cubicBezTo>
                  <a:lnTo>
                    <a:pt x="10070" y="1007"/>
                  </a:lnTo>
                  <a:lnTo>
                    <a:pt x="13006" y="1007"/>
                  </a:lnTo>
                  <a:lnTo>
                    <a:pt x="13006" y="2282"/>
                  </a:lnTo>
                  <a:cubicBezTo>
                    <a:pt x="13006" y="2714"/>
                    <a:pt x="13301" y="3093"/>
                    <a:pt x="13712" y="3198"/>
                  </a:cubicBezTo>
                  <a:cubicBezTo>
                    <a:pt x="13954" y="3263"/>
                    <a:pt x="14196" y="3335"/>
                    <a:pt x="14425" y="3420"/>
                  </a:cubicBezTo>
                  <a:cubicBezTo>
                    <a:pt x="14480" y="3439"/>
                    <a:pt x="14536" y="3449"/>
                    <a:pt x="14592" y="3449"/>
                  </a:cubicBezTo>
                  <a:cubicBezTo>
                    <a:pt x="14799" y="3449"/>
                    <a:pt x="14995" y="3319"/>
                    <a:pt x="15073" y="3113"/>
                  </a:cubicBezTo>
                  <a:cubicBezTo>
                    <a:pt x="15164" y="2851"/>
                    <a:pt x="15027" y="2564"/>
                    <a:pt x="14765" y="2472"/>
                  </a:cubicBezTo>
                  <a:cubicBezTo>
                    <a:pt x="14517" y="2381"/>
                    <a:pt x="14268" y="2302"/>
                    <a:pt x="14013" y="2237"/>
                  </a:cubicBezTo>
                  <a:lnTo>
                    <a:pt x="14013" y="955"/>
                  </a:lnTo>
                  <a:cubicBezTo>
                    <a:pt x="14013" y="432"/>
                    <a:pt x="13588" y="0"/>
                    <a:pt x="130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2">
              <a:extLst>
                <a:ext uri="{FF2B5EF4-FFF2-40B4-BE49-F238E27FC236}">
                  <a16:creationId xmlns:a16="http://schemas.microsoft.com/office/drawing/2014/main" id="{9B45A8A2-3B39-2D80-E078-749491286D90}"/>
                </a:ext>
              </a:extLst>
            </p:cNvPr>
            <p:cNvSpPr/>
            <p:nvPr/>
          </p:nvSpPr>
          <p:spPr>
            <a:xfrm>
              <a:off x="8040076" y="4849421"/>
              <a:ext cx="343810" cy="341816"/>
            </a:xfrm>
            <a:custGeom>
              <a:avLst/>
              <a:gdLst/>
              <a:ahLst/>
              <a:cxnLst/>
              <a:rect l="l" t="t" r="r" b="b"/>
              <a:pathLst>
                <a:path w="22409" h="22279" extrusionOk="0">
                  <a:moveTo>
                    <a:pt x="17723" y="1009"/>
                  </a:moveTo>
                  <a:cubicBezTo>
                    <a:pt x="17827" y="1009"/>
                    <a:pt x="17912" y="1038"/>
                    <a:pt x="17949" y="1054"/>
                  </a:cubicBezTo>
                  <a:cubicBezTo>
                    <a:pt x="18034" y="1086"/>
                    <a:pt x="18295" y="1224"/>
                    <a:pt x="18295" y="1570"/>
                  </a:cubicBezTo>
                  <a:lnTo>
                    <a:pt x="18302" y="3270"/>
                  </a:lnTo>
                  <a:lnTo>
                    <a:pt x="15549" y="6023"/>
                  </a:lnTo>
                  <a:lnTo>
                    <a:pt x="14124" y="7442"/>
                  </a:lnTo>
                  <a:lnTo>
                    <a:pt x="14124" y="4382"/>
                  </a:lnTo>
                  <a:lnTo>
                    <a:pt x="17341" y="1171"/>
                  </a:lnTo>
                  <a:cubicBezTo>
                    <a:pt x="17468" y="1044"/>
                    <a:pt x="17607" y="1009"/>
                    <a:pt x="17723" y="1009"/>
                  </a:cubicBezTo>
                  <a:close/>
                  <a:moveTo>
                    <a:pt x="20715" y="3983"/>
                  </a:moveTo>
                  <a:cubicBezTo>
                    <a:pt x="21061" y="3983"/>
                    <a:pt x="21192" y="4251"/>
                    <a:pt x="21231" y="4329"/>
                  </a:cubicBezTo>
                  <a:cubicBezTo>
                    <a:pt x="21264" y="4414"/>
                    <a:pt x="21349" y="4696"/>
                    <a:pt x="21107" y="4938"/>
                  </a:cubicBezTo>
                  <a:lnTo>
                    <a:pt x="17897" y="8155"/>
                  </a:lnTo>
                  <a:lnTo>
                    <a:pt x="14836" y="8155"/>
                  </a:lnTo>
                  <a:lnTo>
                    <a:pt x="16262" y="6736"/>
                  </a:lnTo>
                  <a:lnTo>
                    <a:pt x="19015" y="3983"/>
                  </a:lnTo>
                  <a:close/>
                  <a:moveTo>
                    <a:pt x="8023" y="11332"/>
                  </a:moveTo>
                  <a:cubicBezTo>
                    <a:pt x="8651" y="11332"/>
                    <a:pt x="9233" y="11529"/>
                    <a:pt x="9704" y="11862"/>
                  </a:cubicBezTo>
                  <a:lnTo>
                    <a:pt x="8814" y="12758"/>
                  </a:lnTo>
                  <a:cubicBezTo>
                    <a:pt x="8618" y="12954"/>
                    <a:pt x="8618" y="13274"/>
                    <a:pt x="8814" y="13471"/>
                  </a:cubicBezTo>
                  <a:cubicBezTo>
                    <a:pt x="8912" y="13569"/>
                    <a:pt x="9043" y="13614"/>
                    <a:pt x="9167" y="13614"/>
                  </a:cubicBezTo>
                  <a:cubicBezTo>
                    <a:pt x="9298" y="13614"/>
                    <a:pt x="9429" y="13569"/>
                    <a:pt x="9527" y="13471"/>
                  </a:cubicBezTo>
                  <a:lnTo>
                    <a:pt x="10416" y="12575"/>
                  </a:lnTo>
                  <a:cubicBezTo>
                    <a:pt x="10750" y="13052"/>
                    <a:pt x="10946" y="13628"/>
                    <a:pt x="10946" y="14249"/>
                  </a:cubicBezTo>
                  <a:cubicBezTo>
                    <a:pt x="10946" y="15864"/>
                    <a:pt x="9638" y="17172"/>
                    <a:pt x="8023" y="17172"/>
                  </a:cubicBezTo>
                  <a:cubicBezTo>
                    <a:pt x="6415" y="17172"/>
                    <a:pt x="5107" y="15864"/>
                    <a:pt x="5107" y="14249"/>
                  </a:cubicBezTo>
                  <a:cubicBezTo>
                    <a:pt x="5107" y="12640"/>
                    <a:pt x="6415" y="11332"/>
                    <a:pt x="8023" y="11332"/>
                  </a:cubicBezTo>
                  <a:close/>
                  <a:moveTo>
                    <a:pt x="17724" y="1"/>
                  </a:moveTo>
                  <a:cubicBezTo>
                    <a:pt x="17322" y="1"/>
                    <a:pt x="16932" y="159"/>
                    <a:pt x="16628" y="459"/>
                  </a:cubicBezTo>
                  <a:lnTo>
                    <a:pt x="13267" y="3819"/>
                  </a:lnTo>
                  <a:cubicBezTo>
                    <a:pt x="13169" y="3911"/>
                    <a:pt x="13117" y="4042"/>
                    <a:pt x="13117" y="4173"/>
                  </a:cubicBezTo>
                  <a:lnTo>
                    <a:pt x="13117" y="8449"/>
                  </a:lnTo>
                  <a:lnTo>
                    <a:pt x="12574" y="8998"/>
                  </a:lnTo>
                  <a:cubicBezTo>
                    <a:pt x="11417" y="7998"/>
                    <a:pt x="9998" y="7422"/>
                    <a:pt x="8527" y="7318"/>
                  </a:cubicBezTo>
                  <a:lnTo>
                    <a:pt x="8527" y="6729"/>
                  </a:lnTo>
                  <a:cubicBezTo>
                    <a:pt x="8527" y="6455"/>
                    <a:pt x="8304" y="6226"/>
                    <a:pt x="8023" y="6226"/>
                  </a:cubicBezTo>
                  <a:cubicBezTo>
                    <a:pt x="7748" y="6226"/>
                    <a:pt x="7520" y="6455"/>
                    <a:pt x="7520" y="6729"/>
                  </a:cubicBezTo>
                  <a:lnTo>
                    <a:pt x="7520" y="7318"/>
                  </a:lnTo>
                  <a:cubicBezTo>
                    <a:pt x="6643" y="7383"/>
                    <a:pt x="5774" y="7612"/>
                    <a:pt x="4950" y="8017"/>
                  </a:cubicBezTo>
                  <a:cubicBezTo>
                    <a:pt x="4701" y="8142"/>
                    <a:pt x="4597" y="8442"/>
                    <a:pt x="4721" y="8691"/>
                  </a:cubicBezTo>
                  <a:cubicBezTo>
                    <a:pt x="4810" y="8868"/>
                    <a:pt x="4988" y="8972"/>
                    <a:pt x="5173" y="8972"/>
                  </a:cubicBezTo>
                  <a:cubicBezTo>
                    <a:pt x="5248" y="8972"/>
                    <a:pt x="5323" y="8955"/>
                    <a:pt x="5394" y="8920"/>
                  </a:cubicBezTo>
                  <a:cubicBezTo>
                    <a:pt x="6075" y="8586"/>
                    <a:pt x="6794" y="8390"/>
                    <a:pt x="7520" y="8331"/>
                  </a:cubicBezTo>
                  <a:lnTo>
                    <a:pt x="7520" y="8776"/>
                  </a:lnTo>
                  <a:cubicBezTo>
                    <a:pt x="7520" y="9057"/>
                    <a:pt x="7748" y="9279"/>
                    <a:pt x="8023" y="9279"/>
                  </a:cubicBezTo>
                  <a:cubicBezTo>
                    <a:pt x="8304" y="9279"/>
                    <a:pt x="8527" y="9057"/>
                    <a:pt x="8527" y="8776"/>
                  </a:cubicBezTo>
                  <a:lnTo>
                    <a:pt x="8527" y="8325"/>
                  </a:lnTo>
                  <a:cubicBezTo>
                    <a:pt x="9736" y="8429"/>
                    <a:pt x="10900" y="8900"/>
                    <a:pt x="11861" y="9711"/>
                  </a:cubicBezTo>
                  <a:lnTo>
                    <a:pt x="10423" y="11143"/>
                  </a:lnTo>
                  <a:cubicBezTo>
                    <a:pt x="9762" y="10633"/>
                    <a:pt x="8925" y="10326"/>
                    <a:pt x="8023" y="10326"/>
                  </a:cubicBezTo>
                  <a:cubicBezTo>
                    <a:pt x="5859" y="10326"/>
                    <a:pt x="4093" y="12084"/>
                    <a:pt x="4093" y="14249"/>
                  </a:cubicBezTo>
                  <a:cubicBezTo>
                    <a:pt x="4093" y="16420"/>
                    <a:pt x="5859" y="18179"/>
                    <a:pt x="8023" y="18179"/>
                  </a:cubicBezTo>
                  <a:cubicBezTo>
                    <a:pt x="10194" y="18179"/>
                    <a:pt x="11953" y="16420"/>
                    <a:pt x="11953" y="14249"/>
                  </a:cubicBezTo>
                  <a:cubicBezTo>
                    <a:pt x="11953" y="13353"/>
                    <a:pt x="11646" y="12523"/>
                    <a:pt x="11136" y="11856"/>
                  </a:cubicBezTo>
                  <a:lnTo>
                    <a:pt x="12574" y="10424"/>
                  </a:lnTo>
                  <a:cubicBezTo>
                    <a:pt x="13385" y="11391"/>
                    <a:pt x="13843" y="12555"/>
                    <a:pt x="13947" y="13745"/>
                  </a:cubicBezTo>
                  <a:lnTo>
                    <a:pt x="13496" y="13745"/>
                  </a:lnTo>
                  <a:cubicBezTo>
                    <a:pt x="13221" y="13745"/>
                    <a:pt x="12993" y="13974"/>
                    <a:pt x="12993" y="14249"/>
                  </a:cubicBezTo>
                  <a:cubicBezTo>
                    <a:pt x="12993" y="14530"/>
                    <a:pt x="13221" y="14752"/>
                    <a:pt x="13496" y="14752"/>
                  </a:cubicBezTo>
                  <a:lnTo>
                    <a:pt x="13947" y="14752"/>
                  </a:lnTo>
                  <a:cubicBezTo>
                    <a:pt x="13829" y="16106"/>
                    <a:pt x="13261" y="17420"/>
                    <a:pt x="12227" y="18453"/>
                  </a:cubicBezTo>
                  <a:cubicBezTo>
                    <a:pt x="11194" y="19486"/>
                    <a:pt x="9880" y="20055"/>
                    <a:pt x="8527" y="20173"/>
                  </a:cubicBezTo>
                  <a:lnTo>
                    <a:pt x="8527" y="19722"/>
                  </a:lnTo>
                  <a:cubicBezTo>
                    <a:pt x="8527" y="19447"/>
                    <a:pt x="8304" y="19218"/>
                    <a:pt x="8023" y="19218"/>
                  </a:cubicBezTo>
                  <a:cubicBezTo>
                    <a:pt x="7748" y="19218"/>
                    <a:pt x="7520" y="19447"/>
                    <a:pt x="7520" y="19722"/>
                  </a:cubicBezTo>
                  <a:lnTo>
                    <a:pt x="7520" y="20173"/>
                  </a:lnTo>
                  <a:cubicBezTo>
                    <a:pt x="6173" y="20055"/>
                    <a:pt x="4852" y="19486"/>
                    <a:pt x="3825" y="18453"/>
                  </a:cubicBezTo>
                  <a:cubicBezTo>
                    <a:pt x="2812" y="17440"/>
                    <a:pt x="2223" y="16119"/>
                    <a:pt x="2106" y="14752"/>
                  </a:cubicBezTo>
                  <a:lnTo>
                    <a:pt x="2550" y="14752"/>
                  </a:lnTo>
                  <a:cubicBezTo>
                    <a:pt x="2831" y="14752"/>
                    <a:pt x="3054" y="14530"/>
                    <a:pt x="3054" y="14249"/>
                  </a:cubicBezTo>
                  <a:cubicBezTo>
                    <a:pt x="3054" y="13974"/>
                    <a:pt x="2831" y="13745"/>
                    <a:pt x="2550" y="13745"/>
                  </a:cubicBezTo>
                  <a:lnTo>
                    <a:pt x="2106" y="13745"/>
                  </a:lnTo>
                  <a:cubicBezTo>
                    <a:pt x="2164" y="13052"/>
                    <a:pt x="2341" y="12359"/>
                    <a:pt x="2655" y="11699"/>
                  </a:cubicBezTo>
                  <a:cubicBezTo>
                    <a:pt x="2772" y="11450"/>
                    <a:pt x="2668" y="11149"/>
                    <a:pt x="2413" y="11032"/>
                  </a:cubicBezTo>
                  <a:cubicBezTo>
                    <a:pt x="2344" y="10999"/>
                    <a:pt x="2270" y="10983"/>
                    <a:pt x="2198" y="10983"/>
                  </a:cubicBezTo>
                  <a:cubicBezTo>
                    <a:pt x="2011" y="10983"/>
                    <a:pt x="1831" y="11088"/>
                    <a:pt x="1746" y="11267"/>
                  </a:cubicBezTo>
                  <a:cubicBezTo>
                    <a:pt x="1367" y="12065"/>
                    <a:pt x="1157" y="12902"/>
                    <a:pt x="1092" y="13745"/>
                  </a:cubicBezTo>
                  <a:lnTo>
                    <a:pt x="504" y="13745"/>
                  </a:lnTo>
                  <a:cubicBezTo>
                    <a:pt x="222" y="13745"/>
                    <a:pt x="0" y="13974"/>
                    <a:pt x="0" y="14249"/>
                  </a:cubicBezTo>
                  <a:cubicBezTo>
                    <a:pt x="0" y="14530"/>
                    <a:pt x="222" y="14752"/>
                    <a:pt x="504" y="14752"/>
                  </a:cubicBezTo>
                  <a:lnTo>
                    <a:pt x="1099" y="14752"/>
                  </a:lnTo>
                  <a:cubicBezTo>
                    <a:pt x="1216" y="16387"/>
                    <a:pt x="1903" y="17963"/>
                    <a:pt x="3112" y="19166"/>
                  </a:cubicBezTo>
                  <a:cubicBezTo>
                    <a:pt x="4303" y="20362"/>
                    <a:pt x="5852" y="21062"/>
                    <a:pt x="7520" y="21186"/>
                  </a:cubicBezTo>
                  <a:lnTo>
                    <a:pt x="7520" y="21775"/>
                  </a:lnTo>
                  <a:cubicBezTo>
                    <a:pt x="7520" y="22049"/>
                    <a:pt x="7748" y="22278"/>
                    <a:pt x="8023" y="22278"/>
                  </a:cubicBezTo>
                  <a:cubicBezTo>
                    <a:pt x="8304" y="22278"/>
                    <a:pt x="8527" y="22049"/>
                    <a:pt x="8527" y="21775"/>
                  </a:cubicBezTo>
                  <a:lnTo>
                    <a:pt x="8527" y="21186"/>
                  </a:lnTo>
                  <a:cubicBezTo>
                    <a:pt x="10194" y="21062"/>
                    <a:pt x="11744" y="20362"/>
                    <a:pt x="12940" y="19166"/>
                  </a:cubicBezTo>
                  <a:cubicBezTo>
                    <a:pt x="14130" y="17976"/>
                    <a:pt x="14836" y="16420"/>
                    <a:pt x="14961" y="14752"/>
                  </a:cubicBezTo>
                  <a:lnTo>
                    <a:pt x="15549" y="14752"/>
                  </a:lnTo>
                  <a:cubicBezTo>
                    <a:pt x="15824" y="14752"/>
                    <a:pt x="16053" y="14530"/>
                    <a:pt x="16053" y="14249"/>
                  </a:cubicBezTo>
                  <a:cubicBezTo>
                    <a:pt x="16053" y="13974"/>
                    <a:pt x="15824" y="13745"/>
                    <a:pt x="15549" y="13745"/>
                  </a:cubicBezTo>
                  <a:lnTo>
                    <a:pt x="14961" y="13745"/>
                  </a:lnTo>
                  <a:cubicBezTo>
                    <a:pt x="14850" y="12248"/>
                    <a:pt x="14268" y="10842"/>
                    <a:pt x="13287" y="9711"/>
                  </a:cubicBezTo>
                  <a:lnTo>
                    <a:pt x="13829" y="9162"/>
                  </a:lnTo>
                  <a:lnTo>
                    <a:pt x="18106" y="9162"/>
                  </a:lnTo>
                  <a:cubicBezTo>
                    <a:pt x="18243" y="9162"/>
                    <a:pt x="18367" y="9109"/>
                    <a:pt x="18465" y="9018"/>
                  </a:cubicBezTo>
                  <a:lnTo>
                    <a:pt x="21820" y="5650"/>
                  </a:lnTo>
                  <a:cubicBezTo>
                    <a:pt x="22278" y="5193"/>
                    <a:pt x="22408" y="4539"/>
                    <a:pt x="22160" y="3944"/>
                  </a:cubicBezTo>
                  <a:cubicBezTo>
                    <a:pt x="21911" y="3349"/>
                    <a:pt x="21362" y="2976"/>
                    <a:pt x="20715" y="2976"/>
                  </a:cubicBezTo>
                  <a:lnTo>
                    <a:pt x="19309" y="2976"/>
                  </a:lnTo>
                  <a:lnTo>
                    <a:pt x="19302" y="1564"/>
                  </a:lnTo>
                  <a:cubicBezTo>
                    <a:pt x="19302" y="923"/>
                    <a:pt x="18930" y="367"/>
                    <a:pt x="18335" y="125"/>
                  </a:cubicBezTo>
                  <a:cubicBezTo>
                    <a:pt x="18135" y="42"/>
                    <a:pt x="17928" y="1"/>
                    <a:pt x="177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2">
              <a:extLst>
                <a:ext uri="{FF2B5EF4-FFF2-40B4-BE49-F238E27FC236}">
                  <a16:creationId xmlns:a16="http://schemas.microsoft.com/office/drawing/2014/main" id="{CD1C5369-C3E1-F590-7314-30D7DFA1C678}"/>
                </a:ext>
              </a:extLst>
            </p:cNvPr>
            <p:cNvSpPr/>
            <p:nvPr/>
          </p:nvSpPr>
          <p:spPr>
            <a:xfrm>
              <a:off x="8154528" y="50614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3" y="53"/>
                    <a:pt x="145" y="144"/>
                  </a:cubicBezTo>
                  <a:cubicBezTo>
                    <a:pt x="53" y="236"/>
                    <a:pt x="1" y="366"/>
                    <a:pt x="1" y="504"/>
                  </a:cubicBezTo>
                  <a:cubicBezTo>
                    <a:pt x="1" y="634"/>
                    <a:pt x="53" y="765"/>
                    <a:pt x="145" y="857"/>
                  </a:cubicBezTo>
                  <a:cubicBezTo>
                    <a:pt x="243" y="948"/>
                    <a:pt x="367" y="1007"/>
                    <a:pt x="504" y="1007"/>
                  </a:cubicBezTo>
                  <a:cubicBezTo>
                    <a:pt x="635" y="1007"/>
                    <a:pt x="766" y="948"/>
                    <a:pt x="857" y="857"/>
                  </a:cubicBezTo>
                  <a:cubicBezTo>
                    <a:pt x="955" y="765"/>
                    <a:pt x="1008" y="634"/>
                    <a:pt x="1008" y="504"/>
                  </a:cubicBezTo>
                  <a:cubicBezTo>
                    <a:pt x="1008" y="366"/>
                    <a:pt x="955" y="236"/>
                    <a:pt x="857" y="144"/>
                  </a:cubicBezTo>
                  <a:cubicBezTo>
                    <a:pt x="766" y="53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4" name="Google Shape;464;p22">
            <a:extLst>
              <a:ext uri="{FF2B5EF4-FFF2-40B4-BE49-F238E27FC236}">
                <a16:creationId xmlns:a16="http://schemas.microsoft.com/office/drawing/2014/main" id="{9D43D995-45AD-A244-4999-F1B7FC6EDEB5}"/>
              </a:ext>
            </a:extLst>
          </p:cNvPr>
          <p:cNvGrpSpPr/>
          <p:nvPr/>
        </p:nvGrpSpPr>
        <p:grpSpPr>
          <a:xfrm>
            <a:off x="5683188" y="3908652"/>
            <a:ext cx="395683" cy="309105"/>
            <a:chOff x="7443350" y="4446102"/>
            <a:chExt cx="395683" cy="309105"/>
          </a:xfrm>
        </p:grpSpPr>
        <p:sp>
          <p:nvSpPr>
            <p:cNvPr id="465" name="Google Shape;465;p22">
              <a:extLst>
                <a:ext uri="{FF2B5EF4-FFF2-40B4-BE49-F238E27FC236}">
                  <a16:creationId xmlns:a16="http://schemas.microsoft.com/office/drawing/2014/main" id="{0613A338-8D5F-E150-F7D5-2B379E8B61F0}"/>
                </a:ext>
              </a:extLst>
            </p:cNvPr>
            <p:cNvSpPr/>
            <p:nvPr/>
          </p:nvSpPr>
          <p:spPr>
            <a:xfrm>
              <a:off x="7624232" y="4446102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3" y="0"/>
                    <a:pt x="242" y="53"/>
                    <a:pt x="144" y="144"/>
                  </a:cubicBezTo>
                  <a:cubicBezTo>
                    <a:pt x="52" y="242"/>
                    <a:pt x="0" y="373"/>
                    <a:pt x="0" y="504"/>
                  </a:cubicBezTo>
                  <a:cubicBezTo>
                    <a:pt x="0" y="635"/>
                    <a:pt x="52" y="765"/>
                    <a:pt x="144" y="857"/>
                  </a:cubicBezTo>
                  <a:cubicBezTo>
                    <a:pt x="242" y="955"/>
                    <a:pt x="373" y="1007"/>
                    <a:pt x="504" y="1007"/>
                  </a:cubicBezTo>
                  <a:cubicBezTo>
                    <a:pt x="634" y="1007"/>
                    <a:pt x="765" y="955"/>
                    <a:pt x="857" y="857"/>
                  </a:cubicBezTo>
                  <a:cubicBezTo>
                    <a:pt x="955" y="765"/>
                    <a:pt x="1007" y="635"/>
                    <a:pt x="1007" y="504"/>
                  </a:cubicBezTo>
                  <a:cubicBezTo>
                    <a:pt x="1007" y="373"/>
                    <a:pt x="955" y="242"/>
                    <a:pt x="857" y="144"/>
                  </a:cubicBezTo>
                  <a:cubicBezTo>
                    <a:pt x="765" y="53"/>
                    <a:pt x="634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2">
              <a:extLst>
                <a:ext uri="{FF2B5EF4-FFF2-40B4-BE49-F238E27FC236}">
                  <a16:creationId xmlns:a16="http://schemas.microsoft.com/office/drawing/2014/main" id="{70B0750F-2AC4-3A5F-08EA-F0853E77733B}"/>
                </a:ext>
              </a:extLst>
            </p:cNvPr>
            <p:cNvSpPr/>
            <p:nvPr/>
          </p:nvSpPr>
          <p:spPr>
            <a:xfrm>
              <a:off x="7443350" y="4446102"/>
              <a:ext cx="395683" cy="309105"/>
            </a:xfrm>
            <a:custGeom>
              <a:avLst/>
              <a:gdLst/>
              <a:ahLst/>
              <a:cxnLst/>
              <a:rect l="l" t="t" r="r" b="b"/>
              <a:pathLst>
                <a:path w="25790" h="20147" extrusionOk="0">
                  <a:moveTo>
                    <a:pt x="5742" y="10181"/>
                  </a:moveTo>
                  <a:lnTo>
                    <a:pt x="5742" y="16419"/>
                  </a:lnTo>
                  <a:lnTo>
                    <a:pt x="2315" y="16419"/>
                  </a:lnTo>
                  <a:lnTo>
                    <a:pt x="2315" y="13608"/>
                  </a:lnTo>
                  <a:lnTo>
                    <a:pt x="5742" y="10181"/>
                  </a:lnTo>
                  <a:close/>
                  <a:moveTo>
                    <a:pt x="6749" y="10136"/>
                  </a:moveTo>
                  <a:lnTo>
                    <a:pt x="10175" y="13562"/>
                  </a:lnTo>
                  <a:lnTo>
                    <a:pt x="10175" y="16419"/>
                  </a:lnTo>
                  <a:lnTo>
                    <a:pt x="6749" y="16419"/>
                  </a:lnTo>
                  <a:lnTo>
                    <a:pt x="6749" y="10136"/>
                  </a:lnTo>
                  <a:close/>
                  <a:moveTo>
                    <a:pt x="14608" y="11469"/>
                  </a:moveTo>
                  <a:lnTo>
                    <a:pt x="14608" y="16419"/>
                  </a:lnTo>
                  <a:lnTo>
                    <a:pt x="11182" y="16419"/>
                  </a:lnTo>
                  <a:lnTo>
                    <a:pt x="11182" y="13640"/>
                  </a:lnTo>
                  <a:lnTo>
                    <a:pt x="14608" y="11469"/>
                  </a:lnTo>
                  <a:close/>
                  <a:moveTo>
                    <a:pt x="19042" y="8664"/>
                  </a:moveTo>
                  <a:lnTo>
                    <a:pt x="19042" y="16419"/>
                  </a:lnTo>
                  <a:lnTo>
                    <a:pt x="15615" y="16419"/>
                  </a:lnTo>
                  <a:lnTo>
                    <a:pt x="15615" y="10835"/>
                  </a:lnTo>
                  <a:lnTo>
                    <a:pt x="19042" y="8664"/>
                  </a:lnTo>
                  <a:close/>
                  <a:moveTo>
                    <a:pt x="23475" y="5853"/>
                  </a:moveTo>
                  <a:lnTo>
                    <a:pt x="23475" y="16419"/>
                  </a:lnTo>
                  <a:lnTo>
                    <a:pt x="20049" y="16419"/>
                  </a:lnTo>
                  <a:lnTo>
                    <a:pt x="20049" y="8023"/>
                  </a:lnTo>
                  <a:lnTo>
                    <a:pt x="23475" y="5853"/>
                  </a:lnTo>
                  <a:close/>
                  <a:moveTo>
                    <a:pt x="24783" y="17426"/>
                  </a:moveTo>
                  <a:lnTo>
                    <a:pt x="24783" y="17583"/>
                  </a:lnTo>
                  <a:cubicBezTo>
                    <a:pt x="24783" y="18440"/>
                    <a:pt x="24083" y="19139"/>
                    <a:pt x="23226" y="19139"/>
                  </a:cubicBezTo>
                  <a:lnTo>
                    <a:pt x="2570" y="19139"/>
                  </a:lnTo>
                  <a:cubicBezTo>
                    <a:pt x="1707" y="19139"/>
                    <a:pt x="1008" y="18440"/>
                    <a:pt x="1008" y="17583"/>
                  </a:cubicBezTo>
                  <a:lnTo>
                    <a:pt x="1008" y="17426"/>
                  </a:lnTo>
                  <a:close/>
                  <a:moveTo>
                    <a:pt x="4029" y="0"/>
                  </a:moveTo>
                  <a:cubicBezTo>
                    <a:pt x="2531" y="0"/>
                    <a:pt x="1308" y="1223"/>
                    <a:pt x="1308" y="2721"/>
                  </a:cubicBezTo>
                  <a:lnTo>
                    <a:pt x="1308" y="8965"/>
                  </a:lnTo>
                  <a:lnTo>
                    <a:pt x="1308" y="13398"/>
                  </a:lnTo>
                  <a:lnTo>
                    <a:pt x="1308" y="16419"/>
                  </a:lnTo>
                  <a:lnTo>
                    <a:pt x="504" y="16419"/>
                  </a:lnTo>
                  <a:cubicBezTo>
                    <a:pt x="230" y="16419"/>
                    <a:pt x="1" y="16648"/>
                    <a:pt x="1" y="16923"/>
                  </a:cubicBezTo>
                  <a:lnTo>
                    <a:pt x="1" y="17583"/>
                  </a:lnTo>
                  <a:cubicBezTo>
                    <a:pt x="1" y="18995"/>
                    <a:pt x="1152" y="20146"/>
                    <a:pt x="2570" y="20146"/>
                  </a:cubicBezTo>
                  <a:lnTo>
                    <a:pt x="23226" y="20146"/>
                  </a:lnTo>
                  <a:cubicBezTo>
                    <a:pt x="24639" y="20146"/>
                    <a:pt x="25790" y="18995"/>
                    <a:pt x="25790" y="17583"/>
                  </a:cubicBezTo>
                  <a:lnTo>
                    <a:pt x="25790" y="16923"/>
                  </a:lnTo>
                  <a:cubicBezTo>
                    <a:pt x="25790" y="16648"/>
                    <a:pt x="25567" y="16419"/>
                    <a:pt x="25286" y="16419"/>
                  </a:cubicBezTo>
                  <a:lnTo>
                    <a:pt x="24482" y="16419"/>
                  </a:lnTo>
                  <a:lnTo>
                    <a:pt x="24482" y="2721"/>
                  </a:lnTo>
                  <a:cubicBezTo>
                    <a:pt x="24482" y="1217"/>
                    <a:pt x="23266" y="0"/>
                    <a:pt x="21762" y="0"/>
                  </a:cubicBezTo>
                  <a:lnTo>
                    <a:pt x="14406" y="0"/>
                  </a:lnTo>
                  <a:cubicBezTo>
                    <a:pt x="14131" y="0"/>
                    <a:pt x="13902" y="223"/>
                    <a:pt x="13902" y="504"/>
                  </a:cubicBezTo>
                  <a:cubicBezTo>
                    <a:pt x="13902" y="779"/>
                    <a:pt x="14131" y="1007"/>
                    <a:pt x="14406" y="1007"/>
                  </a:cubicBezTo>
                  <a:lnTo>
                    <a:pt x="21762" y="1007"/>
                  </a:lnTo>
                  <a:cubicBezTo>
                    <a:pt x="22710" y="1007"/>
                    <a:pt x="23475" y="1772"/>
                    <a:pt x="23475" y="2721"/>
                  </a:cubicBezTo>
                  <a:lnTo>
                    <a:pt x="23475" y="4663"/>
                  </a:lnTo>
                  <a:lnTo>
                    <a:pt x="10764" y="12718"/>
                  </a:lnTo>
                  <a:lnTo>
                    <a:pt x="6624" y="8586"/>
                  </a:lnTo>
                  <a:cubicBezTo>
                    <a:pt x="6533" y="8488"/>
                    <a:pt x="6402" y="8435"/>
                    <a:pt x="6271" y="8435"/>
                  </a:cubicBezTo>
                  <a:cubicBezTo>
                    <a:pt x="6141" y="8435"/>
                    <a:pt x="6010" y="8488"/>
                    <a:pt x="5918" y="8586"/>
                  </a:cubicBezTo>
                  <a:lnTo>
                    <a:pt x="2315" y="12182"/>
                  </a:lnTo>
                  <a:lnTo>
                    <a:pt x="2315" y="9174"/>
                  </a:lnTo>
                  <a:lnTo>
                    <a:pt x="6271" y="5218"/>
                  </a:lnTo>
                  <a:lnTo>
                    <a:pt x="10332" y="9279"/>
                  </a:lnTo>
                  <a:cubicBezTo>
                    <a:pt x="10431" y="9378"/>
                    <a:pt x="10561" y="9428"/>
                    <a:pt x="10692" y="9428"/>
                  </a:cubicBezTo>
                  <a:cubicBezTo>
                    <a:pt x="10785" y="9428"/>
                    <a:pt x="10878" y="9403"/>
                    <a:pt x="10960" y="9351"/>
                  </a:cubicBezTo>
                  <a:lnTo>
                    <a:pt x="18845" y="4355"/>
                  </a:lnTo>
                  <a:cubicBezTo>
                    <a:pt x="18872" y="4571"/>
                    <a:pt x="19035" y="4754"/>
                    <a:pt x="19257" y="4793"/>
                  </a:cubicBezTo>
                  <a:cubicBezTo>
                    <a:pt x="19290" y="4793"/>
                    <a:pt x="19316" y="4800"/>
                    <a:pt x="19342" y="4800"/>
                  </a:cubicBezTo>
                  <a:cubicBezTo>
                    <a:pt x="19584" y="4800"/>
                    <a:pt x="19800" y="4623"/>
                    <a:pt x="19839" y="4381"/>
                  </a:cubicBezTo>
                  <a:lnTo>
                    <a:pt x="20042" y="3218"/>
                  </a:lnTo>
                  <a:cubicBezTo>
                    <a:pt x="20068" y="3074"/>
                    <a:pt x="20029" y="2923"/>
                    <a:pt x="19931" y="2806"/>
                  </a:cubicBezTo>
                  <a:cubicBezTo>
                    <a:pt x="19839" y="2694"/>
                    <a:pt x="19695" y="2629"/>
                    <a:pt x="19545" y="2629"/>
                  </a:cubicBezTo>
                  <a:lnTo>
                    <a:pt x="18420" y="2629"/>
                  </a:lnTo>
                  <a:cubicBezTo>
                    <a:pt x="18146" y="2629"/>
                    <a:pt x="17917" y="2851"/>
                    <a:pt x="17917" y="3133"/>
                  </a:cubicBezTo>
                  <a:cubicBezTo>
                    <a:pt x="17917" y="3322"/>
                    <a:pt x="18028" y="3492"/>
                    <a:pt x="18185" y="3577"/>
                  </a:cubicBezTo>
                  <a:lnTo>
                    <a:pt x="10764" y="8285"/>
                  </a:lnTo>
                  <a:lnTo>
                    <a:pt x="6624" y="4153"/>
                  </a:lnTo>
                  <a:cubicBezTo>
                    <a:pt x="6533" y="4054"/>
                    <a:pt x="6402" y="4002"/>
                    <a:pt x="6271" y="4002"/>
                  </a:cubicBezTo>
                  <a:cubicBezTo>
                    <a:pt x="6141" y="4002"/>
                    <a:pt x="6010" y="4054"/>
                    <a:pt x="5918" y="4153"/>
                  </a:cubicBezTo>
                  <a:lnTo>
                    <a:pt x="2315" y="7749"/>
                  </a:lnTo>
                  <a:lnTo>
                    <a:pt x="2315" y="2721"/>
                  </a:lnTo>
                  <a:cubicBezTo>
                    <a:pt x="2315" y="1772"/>
                    <a:pt x="3087" y="1007"/>
                    <a:pt x="4029" y="1007"/>
                  </a:cubicBezTo>
                  <a:lnTo>
                    <a:pt x="10025" y="1007"/>
                  </a:lnTo>
                  <a:cubicBezTo>
                    <a:pt x="10306" y="1007"/>
                    <a:pt x="10528" y="785"/>
                    <a:pt x="10528" y="504"/>
                  </a:cubicBezTo>
                  <a:cubicBezTo>
                    <a:pt x="10528" y="223"/>
                    <a:pt x="10306" y="0"/>
                    <a:pt x="10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467;p22">
            <a:extLst>
              <a:ext uri="{FF2B5EF4-FFF2-40B4-BE49-F238E27FC236}">
                <a16:creationId xmlns:a16="http://schemas.microsoft.com/office/drawing/2014/main" id="{9EE2DCCE-61FE-47DB-26A6-628364DB7B19}"/>
              </a:ext>
            </a:extLst>
          </p:cNvPr>
          <p:cNvGrpSpPr/>
          <p:nvPr/>
        </p:nvGrpSpPr>
        <p:grpSpPr>
          <a:xfrm>
            <a:off x="5683133" y="3030500"/>
            <a:ext cx="395783" cy="377226"/>
            <a:chOff x="7937845" y="4412050"/>
            <a:chExt cx="395783" cy="377226"/>
          </a:xfrm>
        </p:grpSpPr>
        <p:sp>
          <p:nvSpPr>
            <p:cNvPr id="468" name="Google Shape;468;p22">
              <a:extLst>
                <a:ext uri="{FF2B5EF4-FFF2-40B4-BE49-F238E27FC236}">
                  <a16:creationId xmlns:a16="http://schemas.microsoft.com/office/drawing/2014/main" id="{D3AD4F92-2FDA-C6E4-F937-0A9F3C0DB510}"/>
                </a:ext>
              </a:extLst>
            </p:cNvPr>
            <p:cNvSpPr/>
            <p:nvPr/>
          </p:nvSpPr>
          <p:spPr>
            <a:xfrm>
              <a:off x="8145606" y="4412050"/>
              <a:ext cx="188022" cy="310011"/>
            </a:xfrm>
            <a:custGeom>
              <a:avLst/>
              <a:gdLst/>
              <a:ahLst/>
              <a:cxnLst/>
              <a:rect l="l" t="t" r="r" b="b"/>
              <a:pathLst>
                <a:path w="12255" h="20206" extrusionOk="0">
                  <a:moveTo>
                    <a:pt x="1008" y="1021"/>
                  </a:moveTo>
                  <a:cubicBezTo>
                    <a:pt x="1916" y="1060"/>
                    <a:pt x="2793" y="1217"/>
                    <a:pt x="3623" y="1472"/>
                  </a:cubicBezTo>
                  <a:lnTo>
                    <a:pt x="1008" y="4088"/>
                  </a:lnTo>
                  <a:lnTo>
                    <a:pt x="1008" y="1021"/>
                  </a:lnTo>
                  <a:close/>
                  <a:moveTo>
                    <a:pt x="4669" y="1851"/>
                  </a:moveTo>
                  <a:cubicBezTo>
                    <a:pt x="5192" y="2074"/>
                    <a:pt x="5696" y="2335"/>
                    <a:pt x="6173" y="2629"/>
                  </a:cubicBezTo>
                  <a:lnTo>
                    <a:pt x="1008" y="7795"/>
                  </a:lnTo>
                  <a:lnTo>
                    <a:pt x="1008" y="5513"/>
                  </a:lnTo>
                  <a:cubicBezTo>
                    <a:pt x="1014" y="5506"/>
                    <a:pt x="1021" y="5500"/>
                    <a:pt x="1027" y="5493"/>
                  </a:cubicBezTo>
                  <a:lnTo>
                    <a:pt x="4669" y="1851"/>
                  </a:lnTo>
                  <a:close/>
                  <a:moveTo>
                    <a:pt x="7010" y="3211"/>
                  </a:moveTo>
                  <a:cubicBezTo>
                    <a:pt x="7442" y="3538"/>
                    <a:pt x="7847" y="3898"/>
                    <a:pt x="8220" y="4284"/>
                  </a:cubicBezTo>
                  <a:lnTo>
                    <a:pt x="3551" y="8952"/>
                  </a:lnTo>
                  <a:cubicBezTo>
                    <a:pt x="3355" y="9149"/>
                    <a:pt x="3355" y="9469"/>
                    <a:pt x="3551" y="9665"/>
                  </a:cubicBezTo>
                  <a:cubicBezTo>
                    <a:pt x="3649" y="9763"/>
                    <a:pt x="3780" y="9816"/>
                    <a:pt x="3911" y="9816"/>
                  </a:cubicBezTo>
                  <a:cubicBezTo>
                    <a:pt x="4035" y="9816"/>
                    <a:pt x="4166" y="9763"/>
                    <a:pt x="4264" y="9665"/>
                  </a:cubicBezTo>
                  <a:lnTo>
                    <a:pt x="8887" y="5042"/>
                  </a:lnTo>
                  <a:cubicBezTo>
                    <a:pt x="9227" y="5467"/>
                    <a:pt x="9541" y="5918"/>
                    <a:pt x="9815" y="6396"/>
                  </a:cubicBezTo>
                  <a:lnTo>
                    <a:pt x="2838" y="13373"/>
                  </a:lnTo>
                  <a:lnTo>
                    <a:pt x="1008" y="11542"/>
                  </a:lnTo>
                  <a:lnTo>
                    <a:pt x="1008" y="9220"/>
                  </a:lnTo>
                  <a:lnTo>
                    <a:pt x="7010" y="3211"/>
                  </a:lnTo>
                  <a:close/>
                  <a:moveTo>
                    <a:pt x="10293" y="7337"/>
                  </a:moveTo>
                  <a:cubicBezTo>
                    <a:pt x="10541" y="7880"/>
                    <a:pt x="10737" y="8442"/>
                    <a:pt x="10894" y="9018"/>
                  </a:cubicBezTo>
                  <a:lnTo>
                    <a:pt x="4689" y="15223"/>
                  </a:lnTo>
                  <a:lnTo>
                    <a:pt x="3551" y="14085"/>
                  </a:lnTo>
                  <a:lnTo>
                    <a:pt x="10293" y="7337"/>
                  </a:lnTo>
                  <a:close/>
                  <a:moveTo>
                    <a:pt x="11136" y="10201"/>
                  </a:moveTo>
                  <a:cubicBezTo>
                    <a:pt x="11208" y="10711"/>
                    <a:pt x="11247" y="11228"/>
                    <a:pt x="11247" y="11751"/>
                  </a:cubicBezTo>
                  <a:cubicBezTo>
                    <a:pt x="11247" y="11967"/>
                    <a:pt x="11241" y="12176"/>
                    <a:pt x="11228" y="12392"/>
                  </a:cubicBezTo>
                  <a:cubicBezTo>
                    <a:pt x="11221" y="12398"/>
                    <a:pt x="11215" y="12405"/>
                    <a:pt x="11208" y="12405"/>
                  </a:cubicBezTo>
                  <a:lnTo>
                    <a:pt x="6539" y="17074"/>
                  </a:lnTo>
                  <a:lnTo>
                    <a:pt x="5402" y="15936"/>
                  </a:lnTo>
                  <a:lnTo>
                    <a:pt x="11136" y="10201"/>
                  </a:lnTo>
                  <a:close/>
                  <a:moveTo>
                    <a:pt x="10999" y="14040"/>
                  </a:moveTo>
                  <a:lnTo>
                    <a:pt x="10999" y="14040"/>
                  </a:lnTo>
                  <a:cubicBezTo>
                    <a:pt x="10606" y="15877"/>
                    <a:pt x="9737" y="17570"/>
                    <a:pt x="8449" y="18983"/>
                  </a:cubicBezTo>
                  <a:lnTo>
                    <a:pt x="7252" y="17786"/>
                  </a:lnTo>
                  <a:lnTo>
                    <a:pt x="10999" y="14040"/>
                  </a:lnTo>
                  <a:close/>
                  <a:moveTo>
                    <a:pt x="504" y="1"/>
                  </a:moveTo>
                  <a:cubicBezTo>
                    <a:pt x="223" y="1"/>
                    <a:pt x="1" y="230"/>
                    <a:pt x="1" y="504"/>
                  </a:cubicBezTo>
                  <a:lnTo>
                    <a:pt x="1" y="11751"/>
                  </a:lnTo>
                  <a:cubicBezTo>
                    <a:pt x="1" y="11882"/>
                    <a:pt x="53" y="12013"/>
                    <a:pt x="144" y="12104"/>
                  </a:cubicBezTo>
                  <a:lnTo>
                    <a:pt x="8102" y="20055"/>
                  </a:lnTo>
                  <a:cubicBezTo>
                    <a:pt x="8200" y="20160"/>
                    <a:pt x="8324" y="20206"/>
                    <a:pt x="8455" y="20206"/>
                  </a:cubicBezTo>
                  <a:cubicBezTo>
                    <a:pt x="8586" y="20206"/>
                    <a:pt x="8710" y="20160"/>
                    <a:pt x="8808" y="20055"/>
                  </a:cubicBezTo>
                  <a:cubicBezTo>
                    <a:pt x="11032" y="17839"/>
                    <a:pt x="12254" y="14890"/>
                    <a:pt x="12254" y="11751"/>
                  </a:cubicBezTo>
                  <a:cubicBezTo>
                    <a:pt x="12254" y="8612"/>
                    <a:pt x="11032" y="5663"/>
                    <a:pt x="8808" y="3440"/>
                  </a:cubicBezTo>
                  <a:cubicBezTo>
                    <a:pt x="6592" y="1224"/>
                    <a:pt x="3643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2">
              <a:extLst>
                <a:ext uri="{FF2B5EF4-FFF2-40B4-BE49-F238E27FC236}">
                  <a16:creationId xmlns:a16="http://schemas.microsoft.com/office/drawing/2014/main" id="{1613E9D8-F1B6-EBD6-8381-CFC52614BEF2}"/>
                </a:ext>
              </a:extLst>
            </p:cNvPr>
            <p:cNvSpPr/>
            <p:nvPr/>
          </p:nvSpPr>
          <p:spPr>
            <a:xfrm>
              <a:off x="7937845" y="4428711"/>
              <a:ext cx="310808" cy="360564"/>
            </a:xfrm>
            <a:custGeom>
              <a:avLst/>
              <a:gdLst/>
              <a:ahLst/>
              <a:cxnLst/>
              <a:rect l="l" t="t" r="r" b="b"/>
              <a:pathLst>
                <a:path w="20258" h="23501" extrusionOk="0">
                  <a:moveTo>
                    <a:pt x="12647" y="13359"/>
                  </a:moveTo>
                  <a:lnTo>
                    <a:pt x="18983" y="19695"/>
                  </a:lnTo>
                  <a:cubicBezTo>
                    <a:pt x="17741" y="20826"/>
                    <a:pt x="16282" y="21637"/>
                    <a:pt x="14693" y="22082"/>
                  </a:cubicBezTo>
                  <a:lnTo>
                    <a:pt x="12647" y="13359"/>
                  </a:lnTo>
                  <a:close/>
                  <a:moveTo>
                    <a:pt x="11248" y="1020"/>
                  </a:moveTo>
                  <a:lnTo>
                    <a:pt x="11248" y="11750"/>
                  </a:lnTo>
                  <a:cubicBezTo>
                    <a:pt x="11248" y="11790"/>
                    <a:pt x="11254" y="11829"/>
                    <a:pt x="11261" y="11862"/>
                  </a:cubicBezTo>
                  <a:lnTo>
                    <a:pt x="13713" y="22310"/>
                  </a:lnTo>
                  <a:cubicBezTo>
                    <a:pt x="13072" y="22428"/>
                    <a:pt x="12418" y="22494"/>
                    <a:pt x="11751" y="22494"/>
                  </a:cubicBezTo>
                  <a:cubicBezTo>
                    <a:pt x="5827" y="22494"/>
                    <a:pt x="1008" y="17674"/>
                    <a:pt x="1008" y="11750"/>
                  </a:cubicBezTo>
                  <a:cubicBezTo>
                    <a:pt x="1008" y="5996"/>
                    <a:pt x="5559" y="1282"/>
                    <a:pt x="11248" y="1020"/>
                  </a:cubicBezTo>
                  <a:close/>
                  <a:moveTo>
                    <a:pt x="11751" y="0"/>
                  </a:moveTo>
                  <a:cubicBezTo>
                    <a:pt x="8612" y="0"/>
                    <a:pt x="5663" y="1223"/>
                    <a:pt x="3447" y="3440"/>
                  </a:cubicBezTo>
                  <a:cubicBezTo>
                    <a:pt x="1224" y="5663"/>
                    <a:pt x="1" y="8612"/>
                    <a:pt x="1" y="11750"/>
                  </a:cubicBezTo>
                  <a:cubicBezTo>
                    <a:pt x="1" y="14889"/>
                    <a:pt x="1224" y="17838"/>
                    <a:pt x="3447" y="20055"/>
                  </a:cubicBezTo>
                  <a:cubicBezTo>
                    <a:pt x="5663" y="22278"/>
                    <a:pt x="8612" y="23501"/>
                    <a:pt x="11751" y="23501"/>
                  </a:cubicBezTo>
                  <a:cubicBezTo>
                    <a:pt x="14890" y="23501"/>
                    <a:pt x="17839" y="22278"/>
                    <a:pt x="20062" y="20055"/>
                  </a:cubicBezTo>
                  <a:cubicBezTo>
                    <a:pt x="20258" y="19858"/>
                    <a:pt x="20258" y="19538"/>
                    <a:pt x="20062" y="19342"/>
                  </a:cubicBezTo>
                  <a:lnTo>
                    <a:pt x="12254" y="11541"/>
                  </a:lnTo>
                  <a:lnTo>
                    <a:pt x="12254" y="504"/>
                  </a:lnTo>
                  <a:cubicBezTo>
                    <a:pt x="12254" y="223"/>
                    <a:pt x="12032" y="0"/>
                    <a:pt x="117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2">
              <a:extLst>
                <a:ext uri="{FF2B5EF4-FFF2-40B4-BE49-F238E27FC236}">
                  <a16:creationId xmlns:a16="http://schemas.microsoft.com/office/drawing/2014/main" id="{51F76051-22CF-6701-18D5-5C182F27D358}"/>
                </a:ext>
              </a:extLst>
            </p:cNvPr>
            <p:cNvSpPr/>
            <p:nvPr/>
          </p:nvSpPr>
          <p:spPr>
            <a:xfrm>
              <a:off x="8177303" y="4567649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0"/>
                  </a:moveTo>
                  <a:cubicBezTo>
                    <a:pt x="374" y="0"/>
                    <a:pt x="243" y="59"/>
                    <a:pt x="145" y="151"/>
                  </a:cubicBezTo>
                  <a:cubicBezTo>
                    <a:pt x="53" y="242"/>
                    <a:pt x="1" y="373"/>
                    <a:pt x="1" y="504"/>
                  </a:cubicBezTo>
                  <a:cubicBezTo>
                    <a:pt x="1" y="641"/>
                    <a:pt x="53" y="765"/>
                    <a:pt x="145" y="864"/>
                  </a:cubicBezTo>
                  <a:cubicBezTo>
                    <a:pt x="243" y="955"/>
                    <a:pt x="374" y="1007"/>
                    <a:pt x="504" y="1007"/>
                  </a:cubicBezTo>
                  <a:cubicBezTo>
                    <a:pt x="635" y="1007"/>
                    <a:pt x="766" y="955"/>
                    <a:pt x="857" y="864"/>
                  </a:cubicBezTo>
                  <a:cubicBezTo>
                    <a:pt x="956" y="765"/>
                    <a:pt x="1008" y="641"/>
                    <a:pt x="1008" y="504"/>
                  </a:cubicBezTo>
                  <a:cubicBezTo>
                    <a:pt x="1008" y="373"/>
                    <a:pt x="956" y="242"/>
                    <a:pt x="857" y="151"/>
                  </a:cubicBezTo>
                  <a:cubicBezTo>
                    <a:pt x="766" y="59"/>
                    <a:pt x="635" y="0"/>
                    <a:pt x="5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2">
              <a:extLst>
                <a:ext uri="{FF2B5EF4-FFF2-40B4-BE49-F238E27FC236}">
                  <a16:creationId xmlns:a16="http://schemas.microsoft.com/office/drawing/2014/main" id="{A0C210BC-6105-70E2-056C-EE925923D9A8}"/>
                </a:ext>
              </a:extLst>
            </p:cNvPr>
            <p:cNvSpPr/>
            <p:nvPr/>
          </p:nvSpPr>
          <p:spPr>
            <a:xfrm>
              <a:off x="7974574" y="4600957"/>
              <a:ext cx="15557" cy="15757"/>
            </a:xfrm>
            <a:custGeom>
              <a:avLst/>
              <a:gdLst/>
              <a:ahLst/>
              <a:cxnLst/>
              <a:rect l="l" t="t" r="r" b="b"/>
              <a:pathLst>
                <a:path w="1014" h="1027" extrusionOk="0">
                  <a:moveTo>
                    <a:pt x="504" y="0"/>
                  </a:moveTo>
                  <a:cubicBezTo>
                    <a:pt x="229" y="0"/>
                    <a:pt x="7" y="223"/>
                    <a:pt x="0" y="504"/>
                  </a:cubicBezTo>
                  <a:lnTo>
                    <a:pt x="0" y="523"/>
                  </a:lnTo>
                  <a:cubicBezTo>
                    <a:pt x="0" y="798"/>
                    <a:pt x="229" y="1027"/>
                    <a:pt x="504" y="1027"/>
                  </a:cubicBezTo>
                  <a:cubicBezTo>
                    <a:pt x="785" y="1027"/>
                    <a:pt x="1007" y="798"/>
                    <a:pt x="1007" y="523"/>
                  </a:cubicBezTo>
                  <a:lnTo>
                    <a:pt x="1007" y="510"/>
                  </a:lnTo>
                  <a:cubicBezTo>
                    <a:pt x="1014" y="229"/>
                    <a:pt x="785" y="0"/>
                    <a:pt x="5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2">
              <a:extLst>
                <a:ext uri="{FF2B5EF4-FFF2-40B4-BE49-F238E27FC236}">
                  <a16:creationId xmlns:a16="http://schemas.microsoft.com/office/drawing/2014/main" id="{ADE84668-9F63-28F4-78F4-69968E4733D8}"/>
                </a:ext>
              </a:extLst>
            </p:cNvPr>
            <p:cNvSpPr/>
            <p:nvPr/>
          </p:nvSpPr>
          <p:spPr>
            <a:xfrm>
              <a:off x="7977872" y="4483145"/>
              <a:ext cx="81975" cy="100478"/>
            </a:xfrm>
            <a:custGeom>
              <a:avLst/>
              <a:gdLst/>
              <a:ahLst/>
              <a:cxnLst/>
              <a:rect l="l" t="t" r="r" b="b"/>
              <a:pathLst>
                <a:path w="5343" h="6549" extrusionOk="0">
                  <a:moveTo>
                    <a:pt x="4773" y="1"/>
                  </a:moveTo>
                  <a:cubicBezTo>
                    <a:pt x="4687" y="1"/>
                    <a:pt x="4599" y="23"/>
                    <a:pt x="4519" y="68"/>
                  </a:cubicBezTo>
                  <a:cubicBezTo>
                    <a:pt x="2302" y="1324"/>
                    <a:pt x="681" y="3462"/>
                    <a:pt x="66" y="5920"/>
                  </a:cubicBezTo>
                  <a:cubicBezTo>
                    <a:pt x="1" y="6188"/>
                    <a:pt x="164" y="6463"/>
                    <a:pt x="432" y="6535"/>
                  </a:cubicBezTo>
                  <a:cubicBezTo>
                    <a:pt x="472" y="6542"/>
                    <a:pt x="517" y="6548"/>
                    <a:pt x="557" y="6548"/>
                  </a:cubicBezTo>
                  <a:cubicBezTo>
                    <a:pt x="779" y="6548"/>
                    <a:pt x="988" y="6398"/>
                    <a:pt x="1047" y="6169"/>
                  </a:cubicBezTo>
                  <a:cubicBezTo>
                    <a:pt x="1596" y="3972"/>
                    <a:pt x="3041" y="2069"/>
                    <a:pt x="5016" y="944"/>
                  </a:cubicBezTo>
                  <a:cubicBezTo>
                    <a:pt x="5258" y="801"/>
                    <a:pt x="5343" y="493"/>
                    <a:pt x="5206" y="251"/>
                  </a:cubicBezTo>
                  <a:cubicBezTo>
                    <a:pt x="5114" y="90"/>
                    <a:pt x="4946" y="1"/>
                    <a:pt x="47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22">
            <a:extLst>
              <a:ext uri="{FF2B5EF4-FFF2-40B4-BE49-F238E27FC236}">
                <a16:creationId xmlns:a16="http://schemas.microsoft.com/office/drawing/2014/main" id="{3CF2F521-77CE-8DBB-AAC7-4710322BF7C1}"/>
              </a:ext>
            </a:extLst>
          </p:cNvPr>
          <p:cNvGrpSpPr/>
          <p:nvPr/>
        </p:nvGrpSpPr>
        <p:grpSpPr>
          <a:xfrm>
            <a:off x="5682392" y="2210821"/>
            <a:ext cx="397278" cy="312246"/>
            <a:chOff x="7469592" y="4906608"/>
            <a:chExt cx="397278" cy="312246"/>
          </a:xfrm>
        </p:grpSpPr>
        <p:sp>
          <p:nvSpPr>
            <p:cNvPr id="474" name="Google Shape;474;p22">
              <a:extLst>
                <a:ext uri="{FF2B5EF4-FFF2-40B4-BE49-F238E27FC236}">
                  <a16:creationId xmlns:a16="http://schemas.microsoft.com/office/drawing/2014/main" id="{17EB0D35-6930-AF63-2F5E-5E7E3669DB44}"/>
                </a:ext>
              </a:extLst>
            </p:cNvPr>
            <p:cNvSpPr/>
            <p:nvPr/>
          </p:nvSpPr>
          <p:spPr>
            <a:xfrm>
              <a:off x="7485840" y="5101866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73" y="1"/>
                    <a:pt x="242" y="53"/>
                    <a:pt x="151" y="151"/>
                  </a:cubicBezTo>
                  <a:cubicBezTo>
                    <a:pt x="53" y="243"/>
                    <a:pt x="0" y="374"/>
                    <a:pt x="0" y="504"/>
                  </a:cubicBezTo>
                  <a:cubicBezTo>
                    <a:pt x="0" y="635"/>
                    <a:pt x="53" y="766"/>
                    <a:pt x="151" y="864"/>
                  </a:cubicBezTo>
                  <a:cubicBezTo>
                    <a:pt x="242" y="955"/>
                    <a:pt x="373" y="1008"/>
                    <a:pt x="504" y="1008"/>
                  </a:cubicBezTo>
                  <a:cubicBezTo>
                    <a:pt x="635" y="1008"/>
                    <a:pt x="765" y="955"/>
                    <a:pt x="857" y="864"/>
                  </a:cubicBezTo>
                  <a:cubicBezTo>
                    <a:pt x="955" y="766"/>
                    <a:pt x="1007" y="635"/>
                    <a:pt x="1007" y="504"/>
                  </a:cubicBezTo>
                  <a:cubicBezTo>
                    <a:pt x="1007" y="374"/>
                    <a:pt x="955" y="243"/>
                    <a:pt x="857" y="151"/>
                  </a:cubicBezTo>
                  <a:cubicBezTo>
                    <a:pt x="765" y="53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2">
              <a:extLst>
                <a:ext uri="{FF2B5EF4-FFF2-40B4-BE49-F238E27FC236}">
                  <a16:creationId xmlns:a16="http://schemas.microsoft.com/office/drawing/2014/main" id="{8A517E6B-EBB7-1FD9-A426-76F6B1A884B6}"/>
                </a:ext>
              </a:extLst>
            </p:cNvPr>
            <p:cNvSpPr/>
            <p:nvPr/>
          </p:nvSpPr>
          <p:spPr>
            <a:xfrm>
              <a:off x="7469592" y="4906608"/>
              <a:ext cx="47961" cy="179630"/>
            </a:xfrm>
            <a:custGeom>
              <a:avLst/>
              <a:gdLst/>
              <a:ahLst/>
              <a:cxnLst/>
              <a:rect l="l" t="t" r="r" b="b"/>
              <a:pathLst>
                <a:path w="3126" h="11708" extrusionOk="0">
                  <a:moveTo>
                    <a:pt x="1562" y="0"/>
                  </a:moveTo>
                  <a:cubicBezTo>
                    <a:pt x="1434" y="0"/>
                    <a:pt x="1305" y="49"/>
                    <a:pt x="1203" y="147"/>
                  </a:cubicBezTo>
                  <a:lnTo>
                    <a:pt x="196" y="1154"/>
                  </a:lnTo>
                  <a:cubicBezTo>
                    <a:pt x="0" y="1350"/>
                    <a:pt x="0" y="1671"/>
                    <a:pt x="196" y="1867"/>
                  </a:cubicBezTo>
                  <a:cubicBezTo>
                    <a:pt x="294" y="1965"/>
                    <a:pt x="423" y="2014"/>
                    <a:pt x="553" y="2014"/>
                  </a:cubicBezTo>
                  <a:cubicBezTo>
                    <a:pt x="682" y="2014"/>
                    <a:pt x="811" y="1965"/>
                    <a:pt x="909" y="1867"/>
                  </a:cubicBezTo>
                  <a:lnTo>
                    <a:pt x="1059" y="1717"/>
                  </a:lnTo>
                  <a:lnTo>
                    <a:pt x="1059" y="11198"/>
                  </a:lnTo>
                  <a:cubicBezTo>
                    <a:pt x="1059" y="11479"/>
                    <a:pt x="1282" y="11708"/>
                    <a:pt x="1563" y="11708"/>
                  </a:cubicBezTo>
                  <a:cubicBezTo>
                    <a:pt x="1837" y="11708"/>
                    <a:pt x="2066" y="11479"/>
                    <a:pt x="2066" y="11198"/>
                  </a:cubicBezTo>
                  <a:lnTo>
                    <a:pt x="2066" y="1717"/>
                  </a:lnTo>
                  <a:lnTo>
                    <a:pt x="2217" y="1867"/>
                  </a:lnTo>
                  <a:cubicBezTo>
                    <a:pt x="2315" y="1965"/>
                    <a:pt x="2439" y="2011"/>
                    <a:pt x="2570" y="2011"/>
                  </a:cubicBezTo>
                  <a:cubicBezTo>
                    <a:pt x="2701" y="2011"/>
                    <a:pt x="2825" y="1965"/>
                    <a:pt x="2923" y="1867"/>
                  </a:cubicBezTo>
                  <a:cubicBezTo>
                    <a:pt x="3126" y="1671"/>
                    <a:pt x="3126" y="1350"/>
                    <a:pt x="2929" y="1154"/>
                  </a:cubicBezTo>
                  <a:lnTo>
                    <a:pt x="1916" y="147"/>
                  </a:lnTo>
                  <a:cubicBezTo>
                    <a:pt x="1818" y="49"/>
                    <a:pt x="1690" y="0"/>
                    <a:pt x="15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2">
              <a:extLst>
                <a:ext uri="{FF2B5EF4-FFF2-40B4-BE49-F238E27FC236}">
                  <a16:creationId xmlns:a16="http://schemas.microsoft.com/office/drawing/2014/main" id="{4CE3D208-FB61-61BA-F134-205BBF34B584}"/>
                </a:ext>
              </a:extLst>
            </p:cNvPr>
            <p:cNvSpPr/>
            <p:nvPr/>
          </p:nvSpPr>
          <p:spPr>
            <a:xfrm>
              <a:off x="7485840" y="5056132"/>
              <a:ext cx="381031" cy="162723"/>
            </a:xfrm>
            <a:custGeom>
              <a:avLst/>
              <a:gdLst/>
              <a:ahLst/>
              <a:cxnLst/>
              <a:rect l="l" t="t" r="r" b="b"/>
              <a:pathLst>
                <a:path w="24835" h="10606" extrusionOk="0">
                  <a:moveTo>
                    <a:pt x="9089" y="0"/>
                  </a:moveTo>
                  <a:cubicBezTo>
                    <a:pt x="8815" y="0"/>
                    <a:pt x="8586" y="229"/>
                    <a:pt x="8586" y="504"/>
                  </a:cubicBezTo>
                  <a:lnTo>
                    <a:pt x="8586" y="8586"/>
                  </a:lnTo>
                  <a:lnTo>
                    <a:pt x="4545" y="8586"/>
                  </a:lnTo>
                  <a:lnTo>
                    <a:pt x="4545" y="5440"/>
                  </a:lnTo>
                  <a:cubicBezTo>
                    <a:pt x="4545" y="5159"/>
                    <a:pt x="4316" y="4937"/>
                    <a:pt x="4041" y="4937"/>
                  </a:cubicBezTo>
                  <a:cubicBezTo>
                    <a:pt x="3760" y="4937"/>
                    <a:pt x="3538" y="5159"/>
                    <a:pt x="3538" y="5440"/>
                  </a:cubicBezTo>
                  <a:lnTo>
                    <a:pt x="3538" y="8586"/>
                  </a:lnTo>
                  <a:lnTo>
                    <a:pt x="1007" y="8586"/>
                  </a:lnTo>
                  <a:lnTo>
                    <a:pt x="1007" y="5689"/>
                  </a:lnTo>
                  <a:cubicBezTo>
                    <a:pt x="1007" y="5408"/>
                    <a:pt x="785" y="5185"/>
                    <a:pt x="504" y="5185"/>
                  </a:cubicBezTo>
                  <a:cubicBezTo>
                    <a:pt x="223" y="5185"/>
                    <a:pt x="0" y="5408"/>
                    <a:pt x="0" y="5689"/>
                  </a:cubicBezTo>
                  <a:lnTo>
                    <a:pt x="0" y="9089"/>
                  </a:lnTo>
                  <a:cubicBezTo>
                    <a:pt x="0" y="9370"/>
                    <a:pt x="223" y="9592"/>
                    <a:pt x="504" y="9592"/>
                  </a:cubicBezTo>
                  <a:lnTo>
                    <a:pt x="23063" y="9592"/>
                  </a:lnTo>
                  <a:lnTo>
                    <a:pt x="22919" y="9743"/>
                  </a:lnTo>
                  <a:cubicBezTo>
                    <a:pt x="22722" y="9939"/>
                    <a:pt x="22722" y="10259"/>
                    <a:pt x="22919" y="10456"/>
                  </a:cubicBezTo>
                  <a:cubicBezTo>
                    <a:pt x="23017" y="10554"/>
                    <a:pt x="23141" y="10606"/>
                    <a:pt x="23272" y="10606"/>
                  </a:cubicBezTo>
                  <a:cubicBezTo>
                    <a:pt x="23403" y="10606"/>
                    <a:pt x="23527" y="10554"/>
                    <a:pt x="23631" y="10456"/>
                  </a:cubicBezTo>
                  <a:lnTo>
                    <a:pt x="24638" y="9449"/>
                  </a:lnTo>
                  <a:cubicBezTo>
                    <a:pt x="24835" y="9252"/>
                    <a:pt x="24835" y="8932"/>
                    <a:pt x="24638" y="8736"/>
                  </a:cubicBezTo>
                  <a:lnTo>
                    <a:pt x="23631" y="7729"/>
                  </a:lnTo>
                  <a:cubicBezTo>
                    <a:pt x="23530" y="7631"/>
                    <a:pt x="23401" y="7582"/>
                    <a:pt x="23273" y="7582"/>
                  </a:cubicBezTo>
                  <a:cubicBezTo>
                    <a:pt x="23144" y="7582"/>
                    <a:pt x="23017" y="7631"/>
                    <a:pt x="22919" y="7729"/>
                  </a:cubicBezTo>
                  <a:cubicBezTo>
                    <a:pt x="22722" y="7925"/>
                    <a:pt x="22722" y="8245"/>
                    <a:pt x="22919" y="8442"/>
                  </a:cubicBezTo>
                  <a:lnTo>
                    <a:pt x="23063" y="8586"/>
                  </a:lnTo>
                  <a:lnTo>
                    <a:pt x="21258" y="8586"/>
                  </a:lnTo>
                  <a:lnTo>
                    <a:pt x="21258" y="1517"/>
                  </a:lnTo>
                  <a:cubicBezTo>
                    <a:pt x="21258" y="1243"/>
                    <a:pt x="21029" y="1014"/>
                    <a:pt x="20754" y="1014"/>
                  </a:cubicBezTo>
                  <a:cubicBezTo>
                    <a:pt x="20473" y="1014"/>
                    <a:pt x="20251" y="1243"/>
                    <a:pt x="20251" y="1517"/>
                  </a:cubicBezTo>
                  <a:lnTo>
                    <a:pt x="20251" y="8586"/>
                  </a:lnTo>
                  <a:lnTo>
                    <a:pt x="14791" y="8586"/>
                  </a:lnTo>
                  <a:lnTo>
                    <a:pt x="14791" y="5362"/>
                  </a:lnTo>
                  <a:cubicBezTo>
                    <a:pt x="14791" y="5087"/>
                    <a:pt x="14562" y="4858"/>
                    <a:pt x="14288" y="4858"/>
                  </a:cubicBezTo>
                  <a:cubicBezTo>
                    <a:pt x="14006" y="4858"/>
                    <a:pt x="13784" y="5087"/>
                    <a:pt x="13784" y="5362"/>
                  </a:cubicBezTo>
                  <a:lnTo>
                    <a:pt x="13784" y="8586"/>
                  </a:lnTo>
                  <a:lnTo>
                    <a:pt x="9593" y="8586"/>
                  </a:lnTo>
                  <a:lnTo>
                    <a:pt x="9593" y="504"/>
                  </a:lnTo>
                  <a:cubicBezTo>
                    <a:pt x="9593" y="229"/>
                    <a:pt x="9370" y="0"/>
                    <a:pt x="9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2">
              <a:extLst>
                <a:ext uri="{FF2B5EF4-FFF2-40B4-BE49-F238E27FC236}">
                  <a16:creationId xmlns:a16="http://schemas.microsoft.com/office/drawing/2014/main" id="{66448E98-B35C-E203-2CE2-1CFD6F6E5C7E}"/>
                </a:ext>
              </a:extLst>
            </p:cNvPr>
            <p:cNvSpPr/>
            <p:nvPr/>
          </p:nvSpPr>
          <p:spPr>
            <a:xfrm>
              <a:off x="7519837" y="4966442"/>
              <a:ext cx="312327" cy="153011"/>
            </a:xfrm>
            <a:custGeom>
              <a:avLst/>
              <a:gdLst/>
              <a:ahLst/>
              <a:cxnLst/>
              <a:rect l="l" t="t" r="r" b="b"/>
              <a:pathLst>
                <a:path w="20357" h="9973" extrusionOk="0">
                  <a:moveTo>
                    <a:pt x="18538" y="1007"/>
                  </a:moveTo>
                  <a:cubicBezTo>
                    <a:pt x="18983" y="1007"/>
                    <a:pt x="19349" y="1374"/>
                    <a:pt x="19349" y="1818"/>
                  </a:cubicBezTo>
                  <a:cubicBezTo>
                    <a:pt x="19349" y="2269"/>
                    <a:pt x="18983" y="2629"/>
                    <a:pt x="18538" y="2629"/>
                  </a:cubicBezTo>
                  <a:cubicBezTo>
                    <a:pt x="18087" y="2629"/>
                    <a:pt x="17728" y="2269"/>
                    <a:pt x="17728" y="1818"/>
                  </a:cubicBezTo>
                  <a:cubicBezTo>
                    <a:pt x="17728" y="1374"/>
                    <a:pt x="18087" y="1007"/>
                    <a:pt x="18538" y="1007"/>
                  </a:cubicBezTo>
                  <a:close/>
                  <a:moveTo>
                    <a:pt x="6873" y="2322"/>
                  </a:moveTo>
                  <a:cubicBezTo>
                    <a:pt x="7324" y="2322"/>
                    <a:pt x="7684" y="2688"/>
                    <a:pt x="7684" y="3133"/>
                  </a:cubicBezTo>
                  <a:cubicBezTo>
                    <a:pt x="7684" y="3584"/>
                    <a:pt x="7324" y="3943"/>
                    <a:pt x="6873" y="3943"/>
                  </a:cubicBezTo>
                  <a:cubicBezTo>
                    <a:pt x="6429" y="3943"/>
                    <a:pt x="6062" y="3584"/>
                    <a:pt x="6062" y="3133"/>
                  </a:cubicBezTo>
                  <a:cubicBezTo>
                    <a:pt x="6062" y="2688"/>
                    <a:pt x="6429" y="2322"/>
                    <a:pt x="6873" y="2322"/>
                  </a:cubicBezTo>
                  <a:close/>
                  <a:moveTo>
                    <a:pt x="1825" y="7344"/>
                  </a:moveTo>
                  <a:cubicBezTo>
                    <a:pt x="2041" y="7344"/>
                    <a:pt x="2244" y="7429"/>
                    <a:pt x="2388" y="7572"/>
                  </a:cubicBezTo>
                  <a:cubicBezTo>
                    <a:pt x="2388" y="7572"/>
                    <a:pt x="2394" y="7579"/>
                    <a:pt x="2394" y="7579"/>
                  </a:cubicBezTo>
                  <a:cubicBezTo>
                    <a:pt x="2394" y="7585"/>
                    <a:pt x="2401" y="7585"/>
                    <a:pt x="2401" y="7592"/>
                  </a:cubicBezTo>
                  <a:cubicBezTo>
                    <a:pt x="2545" y="7736"/>
                    <a:pt x="2636" y="7932"/>
                    <a:pt x="2636" y="8154"/>
                  </a:cubicBezTo>
                  <a:cubicBezTo>
                    <a:pt x="2636" y="8599"/>
                    <a:pt x="2270" y="8965"/>
                    <a:pt x="1825" y="8965"/>
                  </a:cubicBezTo>
                  <a:cubicBezTo>
                    <a:pt x="1374" y="8965"/>
                    <a:pt x="1014" y="8599"/>
                    <a:pt x="1014" y="8154"/>
                  </a:cubicBezTo>
                  <a:cubicBezTo>
                    <a:pt x="1014" y="7710"/>
                    <a:pt x="1374" y="7344"/>
                    <a:pt x="1825" y="7344"/>
                  </a:cubicBezTo>
                  <a:close/>
                  <a:moveTo>
                    <a:pt x="12072" y="7337"/>
                  </a:moveTo>
                  <a:cubicBezTo>
                    <a:pt x="12516" y="7337"/>
                    <a:pt x="12882" y="7703"/>
                    <a:pt x="12882" y="8154"/>
                  </a:cubicBezTo>
                  <a:cubicBezTo>
                    <a:pt x="12882" y="8599"/>
                    <a:pt x="12516" y="8965"/>
                    <a:pt x="12072" y="8965"/>
                  </a:cubicBezTo>
                  <a:cubicBezTo>
                    <a:pt x="11620" y="8965"/>
                    <a:pt x="11261" y="8599"/>
                    <a:pt x="11261" y="8154"/>
                  </a:cubicBezTo>
                  <a:cubicBezTo>
                    <a:pt x="11261" y="7703"/>
                    <a:pt x="11620" y="7337"/>
                    <a:pt x="12072" y="7337"/>
                  </a:cubicBezTo>
                  <a:close/>
                  <a:moveTo>
                    <a:pt x="18538" y="1"/>
                  </a:moveTo>
                  <a:cubicBezTo>
                    <a:pt x="17531" y="1"/>
                    <a:pt x="16714" y="818"/>
                    <a:pt x="16714" y="1818"/>
                  </a:cubicBezTo>
                  <a:cubicBezTo>
                    <a:pt x="16714" y="2106"/>
                    <a:pt x="16786" y="2381"/>
                    <a:pt x="16904" y="2623"/>
                  </a:cubicBezTo>
                  <a:lnTo>
                    <a:pt x="12961" y="6565"/>
                  </a:lnTo>
                  <a:cubicBezTo>
                    <a:pt x="12699" y="6415"/>
                    <a:pt x="12392" y="6330"/>
                    <a:pt x="12072" y="6330"/>
                  </a:cubicBezTo>
                  <a:cubicBezTo>
                    <a:pt x="11751" y="6330"/>
                    <a:pt x="11457" y="6415"/>
                    <a:pt x="11195" y="6559"/>
                  </a:cubicBezTo>
                  <a:lnTo>
                    <a:pt x="8527" y="3891"/>
                  </a:lnTo>
                  <a:cubicBezTo>
                    <a:pt x="8632" y="3656"/>
                    <a:pt x="8691" y="3401"/>
                    <a:pt x="8691" y="3133"/>
                  </a:cubicBezTo>
                  <a:cubicBezTo>
                    <a:pt x="8691" y="2132"/>
                    <a:pt x="7880" y="1315"/>
                    <a:pt x="6873" y="1315"/>
                  </a:cubicBezTo>
                  <a:cubicBezTo>
                    <a:pt x="5873" y="1315"/>
                    <a:pt x="5055" y="2132"/>
                    <a:pt x="5055" y="3133"/>
                  </a:cubicBezTo>
                  <a:cubicBezTo>
                    <a:pt x="5055" y="3446"/>
                    <a:pt x="5134" y="3734"/>
                    <a:pt x="5271" y="3989"/>
                  </a:cubicBezTo>
                  <a:lnTo>
                    <a:pt x="2701" y="6559"/>
                  </a:lnTo>
                  <a:cubicBezTo>
                    <a:pt x="2440" y="6415"/>
                    <a:pt x="2139" y="6337"/>
                    <a:pt x="1825" y="6337"/>
                  </a:cubicBezTo>
                  <a:cubicBezTo>
                    <a:pt x="818" y="6337"/>
                    <a:pt x="1" y="7154"/>
                    <a:pt x="1" y="8154"/>
                  </a:cubicBezTo>
                  <a:cubicBezTo>
                    <a:pt x="1" y="9155"/>
                    <a:pt x="818" y="9972"/>
                    <a:pt x="1825" y="9972"/>
                  </a:cubicBezTo>
                  <a:cubicBezTo>
                    <a:pt x="2826" y="9972"/>
                    <a:pt x="3643" y="9155"/>
                    <a:pt x="3643" y="8154"/>
                  </a:cubicBezTo>
                  <a:cubicBezTo>
                    <a:pt x="3643" y="7834"/>
                    <a:pt x="3558" y="7533"/>
                    <a:pt x="3414" y="7272"/>
                  </a:cubicBezTo>
                  <a:lnTo>
                    <a:pt x="5971" y="4715"/>
                  </a:lnTo>
                  <a:cubicBezTo>
                    <a:pt x="6239" y="4865"/>
                    <a:pt x="6546" y="4957"/>
                    <a:pt x="6873" y="4957"/>
                  </a:cubicBezTo>
                  <a:cubicBezTo>
                    <a:pt x="7246" y="4957"/>
                    <a:pt x="7586" y="4846"/>
                    <a:pt x="7874" y="4656"/>
                  </a:cubicBezTo>
                  <a:lnTo>
                    <a:pt x="10483" y="7265"/>
                  </a:lnTo>
                  <a:cubicBezTo>
                    <a:pt x="10332" y="7527"/>
                    <a:pt x="10254" y="7827"/>
                    <a:pt x="10254" y="8154"/>
                  </a:cubicBezTo>
                  <a:cubicBezTo>
                    <a:pt x="10254" y="9155"/>
                    <a:pt x="11065" y="9972"/>
                    <a:pt x="12072" y="9972"/>
                  </a:cubicBezTo>
                  <a:cubicBezTo>
                    <a:pt x="13072" y="9972"/>
                    <a:pt x="13889" y="9155"/>
                    <a:pt x="13889" y="8154"/>
                  </a:cubicBezTo>
                  <a:cubicBezTo>
                    <a:pt x="13889" y="7840"/>
                    <a:pt x="13811" y="7540"/>
                    <a:pt x="13667" y="7285"/>
                  </a:cubicBezTo>
                  <a:lnTo>
                    <a:pt x="17584" y="3368"/>
                  </a:lnTo>
                  <a:cubicBezTo>
                    <a:pt x="17858" y="3538"/>
                    <a:pt x="18185" y="3636"/>
                    <a:pt x="18538" y="3636"/>
                  </a:cubicBezTo>
                  <a:cubicBezTo>
                    <a:pt x="19539" y="3636"/>
                    <a:pt x="20356" y="2825"/>
                    <a:pt x="20356" y="1818"/>
                  </a:cubicBezTo>
                  <a:cubicBezTo>
                    <a:pt x="20356" y="818"/>
                    <a:pt x="19539" y="1"/>
                    <a:pt x="185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2">
              <a:extLst>
                <a:ext uri="{FF2B5EF4-FFF2-40B4-BE49-F238E27FC236}">
                  <a16:creationId xmlns:a16="http://schemas.microsoft.com/office/drawing/2014/main" id="{0476EB6A-B6A4-341B-D324-A61BF6377042}"/>
                </a:ext>
              </a:extLst>
            </p:cNvPr>
            <p:cNvSpPr/>
            <p:nvPr/>
          </p:nvSpPr>
          <p:spPr>
            <a:xfrm>
              <a:off x="7796515" y="5039470"/>
              <a:ext cx="15465" cy="15465"/>
            </a:xfrm>
            <a:custGeom>
              <a:avLst/>
              <a:gdLst/>
              <a:ahLst/>
              <a:cxnLst/>
              <a:rect l="l" t="t" r="r" b="b"/>
              <a:pathLst>
                <a:path w="1008" h="1008" extrusionOk="0">
                  <a:moveTo>
                    <a:pt x="504" y="1"/>
                  </a:moveTo>
                  <a:cubicBezTo>
                    <a:pt x="367" y="1"/>
                    <a:pt x="243" y="53"/>
                    <a:pt x="145" y="151"/>
                  </a:cubicBezTo>
                  <a:cubicBezTo>
                    <a:pt x="53" y="243"/>
                    <a:pt x="1" y="373"/>
                    <a:pt x="1" y="504"/>
                  </a:cubicBezTo>
                  <a:cubicBezTo>
                    <a:pt x="1" y="642"/>
                    <a:pt x="53" y="766"/>
                    <a:pt x="145" y="864"/>
                  </a:cubicBezTo>
                  <a:cubicBezTo>
                    <a:pt x="243" y="955"/>
                    <a:pt x="367" y="1008"/>
                    <a:pt x="504" y="1008"/>
                  </a:cubicBezTo>
                  <a:cubicBezTo>
                    <a:pt x="635" y="1008"/>
                    <a:pt x="766" y="955"/>
                    <a:pt x="857" y="864"/>
                  </a:cubicBezTo>
                  <a:cubicBezTo>
                    <a:pt x="949" y="766"/>
                    <a:pt x="1008" y="642"/>
                    <a:pt x="1008" y="504"/>
                  </a:cubicBezTo>
                  <a:cubicBezTo>
                    <a:pt x="1008" y="373"/>
                    <a:pt x="949" y="243"/>
                    <a:pt x="857" y="151"/>
                  </a:cubicBezTo>
                  <a:cubicBezTo>
                    <a:pt x="766" y="60"/>
                    <a:pt x="635" y="1"/>
                    <a:pt x="5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 descr="A screenshot of a computer">
            <a:extLst>
              <a:ext uri="{FF2B5EF4-FFF2-40B4-BE49-F238E27FC236}">
                <a16:creationId xmlns:a16="http://schemas.microsoft.com/office/drawing/2014/main" id="{F8989358-636E-BA97-5E33-77A465BA9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21" y="909542"/>
            <a:ext cx="4311371" cy="24272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E03B70-B55A-B559-E02F-8227DBC3A02A}"/>
              </a:ext>
            </a:extLst>
          </p:cNvPr>
          <p:cNvSpPr txBox="1"/>
          <p:nvPr/>
        </p:nvSpPr>
        <p:spPr>
          <a:xfrm>
            <a:off x="233780" y="814201"/>
            <a:ext cx="4646945" cy="2371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b="1" dirty="0">
                <a:solidFill>
                  <a:schemeClr val="accent5">
                    <a:lumMod val="50000"/>
                  </a:schemeClr>
                </a:solidFill>
                <a:latin typeface="Arial" panose="020B0604020202020204" pitchFamily="34" charset="0"/>
              </a:rPr>
              <a:t>Overview: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Holistic View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: This dashboard provides a 360-degree view of Zomato’s sales operations by integrating KPIs, regional trends, and restaurant-level data into one page.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Interactivity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: The use of Slicers for City, Total Cost, and Date allows stakeholders to filter complex data instantly and find specific answers.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ü"/>
            </a:pPr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Visual Storytelling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: The layout follows a logical flow—starting with high-level totals (₹ 1M Sales), followed by regional distribution (Heat Map), and ending with granular details (Restaurant Table).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D5493E-18CD-99A4-3BDF-C9EA7D22C111}"/>
              </a:ext>
            </a:extLst>
          </p:cNvPr>
          <p:cNvSpPr txBox="1"/>
          <p:nvPr/>
        </p:nvSpPr>
        <p:spPr>
          <a:xfrm>
            <a:off x="264816" y="3101016"/>
            <a:ext cx="871129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>
                <a:solidFill>
                  <a:schemeClr val="accent5">
                    <a:lumMod val="50000"/>
                  </a:schemeClr>
                </a:solidFill>
              </a:rPr>
              <a:t>Recommendations:</a:t>
            </a:r>
          </a:p>
          <a:p>
            <a:pPr>
              <a:buNone/>
            </a:pPr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Regional Growth</a:t>
            </a:r>
            <a:r>
              <a:rPr lang="en-US" sz="1200" dirty="0"/>
              <a:t>: Based on the Heat Map, Zomato should increase its presence in high-density zones like Bangalore and Mumbai while exploring untapped areas in Delhi.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Performance Monitoring</a:t>
            </a:r>
            <a:r>
              <a:rPr lang="en-US" sz="1200" dirty="0"/>
              <a:t>: Managers should use the Conditional Formatting in the summary table to identify "Red Zone" restaurants and offer them operational support to improve their sales.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Seasonal Strategy</a:t>
            </a:r>
            <a:r>
              <a:rPr lang="en-US" sz="1200" dirty="0"/>
              <a:t>: Targeted marketing campaigns should be planned for August to recover from the seasonal sales dip identified in the trend analysis.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200" b="1" dirty="0"/>
              <a:t>Data-Driven Decision Making</a:t>
            </a:r>
            <a:r>
              <a:rPr lang="en-US" sz="1200" dirty="0"/>
              <a:t>: This dashboard should be used for weekly business reviews to track the Average Order Value (AOV) and ensure it stays above the ₹ 1K threshold.</a:t>
            </a:r>
          </a:p>
        </p:txBody>
      </p:sp>
    </p:spTree>
    <p:extLst>
      <p:ext uri="{BB962C8B-B14F-4D97-AF65-F5344CB8AC3E}">
        <p14:creationId xmlns:p14="http://schemas.microsoft.com/office/powerpoint/2010/main" val="730376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>
          <a:extLst>
            <a:ext uri="{FF2B5EF4-FFF2-40B4-BE49-F238E27FC236}">
              <a16:creationId xmlns:a16="http://schemas.microsoft.com/office/drawing/2014/main" id="{F285EA7A-756D-188D-1C03-50604E404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D6BB2D6-CA95-B5C4-B8C9-D4771F5F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23350"/>
            <a:ext cx="8229600" cy="4968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0467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rket Research Infographics by Slidesgo">
  <a:themeElements>
    <a:clrScheme name="Simple Light">
      <a:dk1>
        <a:srgbClr val="000000"/>
      </a:dk1>
      <a:lt1>
        <a:srgbClr val="FFFFFF"/>
      </a:lt1>
      <a:dk2>
        <a:srgbClr val="265768"/>
      </a:dk2>
      <a:lt2>
        <a:srgbClr val="517B96"/>
      </a:lt2>
      <a:accent1>
        <a:srgbClr val="76A4C0"/>
      </a:accent1>
      <a:accent2>
        <a:srgbClr val="00A68F"/>
      </a:accent2>
      <a:accent3>
        <a:srgbClr val="76B7A6"/>
      </a:accent3>
      <a:accent4>
        <a:srgbClr val="B2D3CC"/>
      </a:accent4>
      <a:accent5>
        <a:srgbClr val="C2C2C2"/>
      </a:accent5>
      <a:accent6>
        <a:srgbClr val="26576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1158</Words>
  <Application>Microsoft Office PowerPoint</Application>
  <PresentationFormat>On-screen Show (16:9)</PresentationFormat>
  <Paragraphs>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Fira Sans Extra Condensed</vt:lpstr>
      <vt:lpstr>Courier New</vt:lpstr>
      <vt:lpstr>Arial</vt:lpstr>
      <vt:lpstr>Fira Sans Extra Condensed Medium</vt:lpstr>
      <vt:lpstr>Roboto</vt:lpstr>
      <vt:lpstr>Wingdings</vt:lpstr>
      <vt:lpstr>Market Research Infographics by Slidesgo</vt:lpstr>
      <vt:lpstr>Order &amp; Restaurant Analysis Using Power BI</vt:lpstr>
      <vt:lpstr>Task 1: Data Preparation &amp; Cleaning (MySQL)</vt:lpstr>
      <vt:lpstr>Task 2: Data Modeling &amp; Relationship Building</vt:lpstr>
      <vt:lpstr>Task 3: Creating DAX Measures for KPIs</vt:lpstr>
      <vt:lpstr>Task 4 – Top 5 Performing Restaurants (Bar Chart)</vt:lpstr>
      <vt:lpstr>Task 5: Correlation of Rating vs. Cost (Scatter Plot)</vt:lpstr>
      <vt:lpstr>Task 6: Seasonal Sales Performance (Line Chart)</vt:lpstr>
      <vt:lpstr>Task 7: Geographic Order Density (Heat Map)</vt:lpstr>
      <vt:lpstr>Task 8 – Key Performance Indicators (KPIs)</vt:lpstr>
      <vt:lpstr>Task 9 – Restaurant Performance Summary (Table)</vt:lpstr>
      <vt:lpstr>Task 10 – Integrated Business Intelligence Dashboard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Elango Nilla</dc:creator>
  <cp:lastModifiedBy>Elango Nila</cp:lastModifiedBy>
  <cp:revision>6</cp:revision>
  <dcterms:modified xsi:type="dcterms:W3CDTF">2026-01-05T08:54:09Z</dcterms:modified>
</cp:coreProperties>
</file>